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57" r:id="rId4"/>
    <p:sldId id="259" r:id="rId5"/>
    <p:sldId id="352" r:id="rId6"/>
    <p:sldId id="263" r:id="rId7"/>
    <p:sldId id="264" r:id="rId8"/>
    <p:sldId id="358" r:id="rId9"/>
    <p:sldId id="359" r:id="rId10"/>
    <p:sldId id="266" r:id="rId11"/>
    <p:sldId id="353" r:id="rId12"/>
    <p:sldId id="260" r:id="rId13"/>
    <p:sldId id="261" r:id="rId14"/>
    <p:sldId id="271" r:id="rId15"/>
    <p:sldId id="360" r:id="rId16"/>
    <p:sldId id="262" r:id="rId17"/>
    <p:sldId id="363" r:id="rId18"/>
    <p:sldId id="361" r:id="rId19"/>
    <p:sldId id="292" r:id="rId20"/>
    <p:sldId id="293" r:id="rId21"/>
    <p:sldId id="279" r:id="rId22"/>
    <p:sldId id="281" r:id="rId23"/>
    <p:sldId id="282" r:id="rId24"/>
    <p:sldId id="283" r:id="rId25"/>
    <p:sldId id="274" r:id="rId26"/>
    <p:sldId id="275" r:id="rId27"/>
    <p:sldId id="354" r:id="rId28"/>
    <p:sldId id="362" r:id="rId29"/>
    <p:sldId id="355" r:id="rId30"/>
    <p:sldId id="285" r:id="rId31"/>
    <p:sldId id="364" r:id="rId32"/>
    <p:sldId id="286" r:id="rId33"/>
    <p:sldId id="288" r:id="rId34"/>
    <p:sldId id="289" r:id="rId35"/>
    <p:sldId id="290" r:id="rId36"/>
    <p:sldId id="291" r:id="rId37"/>
    <p:sldId id="294" r:id="rId38"/>
    <p:sldId id="295" r:id="rId39"/>
    <p:sldId id="299" r:id="rId40"/>
    <p:sldId id="300" r:id="rId41"/>
    <p:sldId id="301" r:id="rId42"/>
    <p:sldId id="302" r:id="rId43"/>
    <p:sldId id="316" r:id="rId44"/>
    <p:sldId id="303" r:id="rId45"/>
    <p:sldId id="304" r:id="rId46"/>
    <p:sldId id="340" r:id="rId47"/>
    <p:sldId id="365" r:id="rId48"/>
    <p:sldId id="341" r:id="rId49"/>
    <p:sldId id="306" r:id="rId50"/>
    <p:sldId id="307" r:id="rId51"/>
    <p:sldId id="308" r:id="rId52"/>
    <p:sldId id="309" r:id="rId53"/>
    <p:sldId id="314" r:id="rId54"/>
    <p:sldId id="320" r:id="rId55"/>
    <p:sldId id="321" r:id="rId56"/>
    <p:sldId id="328" r:id="rId57"/>
    <p:sldId id="330" r:id="rId58"/>
    <p:sldId id="331" r:id="rId59"/>
    <p:sldId id="335" r:id="rId60"/>
    <p:sldId id="336" r:id="rId61"/>
    <p:sldId id="342" r:id="rId62"/>
    <p:sldId id="343" r:id="rId63"/>
    <p:sldId id="344" r:id="rId64"/>
    <p:sldId id="345" r:id="rId65"/>
    <p:sldId id="346" r:id="rId66"/>
    <p:sldId id="347" r:id="rId67"/>
    <p:sldId id="356" r:id="rId68"/>
    <p:sldId id="348" r:id="rId69"/>
    <p:sldId id="349" r:id="rId70"/>
    <p:sldId id="350"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762B-B2BF-34F4-1E20-3FFFB59F3F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D84D85D-A36F-E177-7BDD-994751EF23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47D409-C731-77CE-CFC7-53FD2A9C9E0F}"/>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5" name="Footer Placeholder 4">
            <a:extLst>
              <a:ext uri="{FF2B5EF4-FFF2-40B4-BE49-F238E27FC236}">
                <a16:creationId xmlns:a16="http://schemas.microsoft.com/office/drawing/2014/main" id="{61AD96C2-C4A3-0774-CB5E-A82E4292A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BF4DE4-6920-B5DE-632B-B61C8E1618C7}"/>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1212160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AF22-332F-76FE-C794-3DBCC591E6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6FB4A9-ED4A-BA19-D288-8258B348E0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241330-1D54-D6C2-6C4E-8B10AA8D18D1}"/>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5" name="Footer Placeholder 4">
            <a:extLst>
              <a:ext uri="{FF2B5EF4-FFF2-40B4-BE49-F238E27FC236}">
                <a16:creationId xmlns:a16="http://schemas.microsoft.com/office/drawing/2014/main" id="{33906543-3D85-FFBF-29E2-8EF1A6411B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218E5A-4BCF-75D4-593C-D4E314644AEC}"/>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1766427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B3D7B-9B49-1701-0835-CF714C95AC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CE527C-0F42-3065-0887-0B0287807A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DCD1D7-C96B-BE76-0F3B-1568A2A3F47C}"/>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5" name="Footer Placeholder 4">
            <a:extLst>
              <a:ext uri="{FF2B5EF4-FFF2-40B4-BE49-F238E27FC236}">
                <a16:creationId xmlns:a16="http://schemas.microsoft.com/office/drawing/2014/main" id="{3378B702-CB2F-C0E5-2FDD-EA0E7355AF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511EE9-DF0B-9863-F6A0-0CAB7F2653A4}"/>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410079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BBB8-A913-96FD-7DA8-913D151990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FB64ED-11F4-935F-2DFF-B07A93F06B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FD70C9-45ED-A079-0239-7DD0008D7D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F04C9B-57A9-023A-15A6-2331DE31EC12}"/>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6" name="Footer Placeholder 5">
            <a:extLst>
              <a:ext uri="{FF2B5EF4-FFF2-40B4-BE49-F238E27FC236}">
                <a16:creationId xmlns:a16="http://schemas.microsoft.com/office/drawing/2014/main" id="{03AAAF2D-87C2-3D5D-4F2A-32195EF289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A8D3C4-77AB-CBF3-D82D-E7FDD759F89B}"/>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411849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547E9-4BF4-8604-FD12-8AD265FBB7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4441B4-2C2E-E610-3BC4-28356A4321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186AB-0194-8594-F480-CFB3EB9E79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32D288-20DC-E7F1-7097-51987086B5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1201A-5803-908A-2F56-FA744F73D9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888A08-5B42-F99D-50F4-37EDA3EA8AA3}"/>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8" name="Footer Placeholder 7">
            <a:extLst>
              <a:ext uri="{FF2B5EF4-FFF2-40B4-BE49-F238E27FC236}">
                <a16:creationId xmlns:a16="http://schemas.microsoft.com/office/drawing/2014/main" id="{E1A0BB4A-89CD-3F8C-5FB6-04D4EBF6F9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144E43-2BFD-62BC-4044-CBDF62F55FEA}"/>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598572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1B7BE-7D8C-47E2-3026-07A97CB82F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1CB4FA-DC93-6E5D-A96F-056E6A8AFF81}"/>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4" name="Footer Placeholder 3">
            <a:extLst>
              <a:ext uri="{FF2B5EF4-FFF2-40B4-BE49-F238E27FC236}">
                <a16:creationId xmlns:a16="http://schemas.microsoft.com/office/drawing/2014/main" id="{28EC7D2A-D38A-B964-3D5A-198AB51844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1979D0-CCBF-6244-19DC-686E3051FD04}"/>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3327158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0E2AC-0229-37E7-2750-EE0E40ABA549}"/>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3" name="Footer Placeholder 2">
            <a:extLst>
              <a:ext uri="{FF2B5EF4-FFF2-40B4-BE49-F238E27FC236}">
                <a16:creationId xmlns:a16="http://schemas.microsoft.com/office/drawing/2014/main" id="{4305A324-4B74-C63B-E95F-338D4FF347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AC8C5E-9ED8-FA6F-6170-BC82BDA3F895}"/>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217726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F9AAE-D85A-BEA8-DD5A-3C57847A3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0F65C3-8CBD-54A7-6FDA-0A06330CB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690F89-AADC-8FF7-839A-AF312A19BF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64EB75-0488-B5E1-6024-4C3F90BDF1E8}"/>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6" name="Footer Placeholder 5">
            <a:extLst>
              <a:ext uri="{FF2B5EF4-FFF2-40B4-BE49-F238E27FC236}">
                <a16:creationId xmlns:a16="http://schemas.microsoft.com/office/drawing/2014/main" id="{7127BCC0-0341-176E-5200-91E894422B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31C21F-51B1-BDBE-24DB-2636DC0DEE60}"/>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1524556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08200-C2D3-1219-22FD-7DE6CA30BC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E9C7DB-C380-A041-6391-63BFD282E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751E1D-81A1-277A-C6AF-BE73D1A3B4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4952D-DB0F-6B18-1EC9-AC3ADD5D3608}"/>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6" name="Footer Placeholder 5">
            <a:extLst>
              <a:ext uri="{FF2B5EF4-FFF2-40B4-BE49-F238E27FC236}">
                <a16:creationId xmlns:a16="http://schemas.microsoft.com/office/drawing/2014/main" id="{A0C8378A-B0F4-BC97-098D-75A301AA22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EA2E79-9B75-2F0B-E9BA-1D3C2A8CDCA5}"/>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156356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CA5F-C1DE-EA3D-8719-487BE81D8D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017420-67CA-0F04-3935-3784091DA5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B9B06-DB59-3392-EC9F-8A6D6AA0C486}"/>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5" name="Footer Placeholder 4">
            <a:extLst>
              <a:ext uri="{FF2B5EF4-FFF2-40B4-BE49-F238E27FC236}">
                <a16:creationId xmlns:a16="http://schemas.microsoft.com/office/drawing/2014/main" id="{EB51261B-BD2C-8195-A5C7-90A61A6BDC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AC914B-75CF-420A-09F6-594A6CD6B004}"/>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23726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929125-5469-93A8-AD25-E9BA09155B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61D534-D1E7-3A0E-9285-2EB13538DB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C99D0-A1AC-CBFF-95A1-1E99E800B593}"/>
              </a:ext>
            </a:extLst>
          </p:cNvPr>
          <p:cNvSpPr>
            <a:spLocks noGrp="1"/>
          </p:cNvSpPr>
          <p:nvPr>
            <p:ph type="dt" sz="half" idx="10"/>
          </p:nvPr>
        </p:nvSpPr>
        <p:spPr/>
        <p:txBody>
          <a:bodyPr/>
          <a:lstStyle/>
          <a:p>
            <a:fld id="{0A965FFC-410E-4665-9DF2-5DA9F4F29BF3}" type="datetimeFigureOut">
              <a:rPr lang="en-IN" smtClean="0"/>
              <a:t>29-04-2025</a:t>
            </a:fld>
            <a:endParaRPr lang="en-IN"/>
          </a:p>
        </p:txBody>
      </p:sp>
      <p:sp>
        <p:nvSpPr>
          <p:cNvPr id="5" name="Footer Placeholder 4">
            <a:extLst>
              <a:ext uri="{FF2B5EF4-FFF2-40B4-BE49-F238E27FC236}">
                <a16:creationId xmlns:a16="http://schemas.microsoft.com/office/drawing/2014/main" id="{6FBF5F96-D86F-4EDA-8A55-E321FB6517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200E11-C539-47A6-5201-DAA68E769275}"/>
              </a:ext>
            </a:extLst>
          </p:cNvPr>
          <p:cNvSpPr>
            <a:spLocks noGrp="1"/>
          </p:cNvSpPr>
          <p:nvPr>
            <p:ph type="sldNum" sz="quarter" idx="12"/>
          </p:nvPr>
        </p:nvSpPr>
        <p:spPr/>
        <p:txBody>
          <a:bodyPr/>
          <a:lstStyle/>
          <a:p>
            <a:fld id="{10F8109E-5BD5-4AD5-8356-588C63F37839}" type="slidenum">
              <a:rPr lang="en-IN" smtClean="0"/>
              <a:t>‹#›</a:t>
            </a:fld>
            <a:endParaRPr lang="en-IN"/>
          </a:p>
        </p:txBody>
      </p:sp>
    </p:spTree>
    <p:extLst>
      <p:ext uri="{BB962C8B-B14F-4D97-AF65-F5344CB8AC3E}">
        <p14:creationId xmlns:p14="http://schemas.microsoft.com/office/powerpoint/2010/main" val="3909045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5AAC93-A576-A508-ECBB-742A6644F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8A845E-C214-BFBC-EE30-96687454B4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3C3203-9026-F563-31CB-B75B30F033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965FFC-410E-4665-9DF2-5DA9F4F29BF3}" type="datetimeFigureOut">
              <a:rPr lang="en-IN" smtClean="0"/>
              <a:t>29-04-2025</a:t>
            </a:fld>
            <a:endParaRPr lang="en-IN"/>
          </a:p>
        </p:txBody>
      </p:sp>
      <p:sp>
        <p:nvSpPr>
          <p:cNvPr id="5" name="Footer Placeholder 4">
            <a:extLst>
              <a:ext uri="{FF2B5EF4-FFF2-40B4-BE49-F238E27FC236}">
                <a16:creationId xmlns:a16="http://schemas.microsoft.com/office/drawing/2014/main" id="{8EDC0230-E00B-F61D-0BF3-6BBA1508A3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8977D0C-7C98-3B94-3206-3F411EC93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F8109E-5BD5-4AD5-8356-588C63F37839}" type="slidenum">
              <a:rPr lang="en-IN" smtClean="0"/>
              <a:t>‹#›</a:t>
            </a:fld>
            <a:endParaRPr lang="en-IN"/>
          </a:p>
        </p:txBody>
      </p:sp>
    </p:spTree>
    <p:extLst>
      <p:ext uri="{BB962C8B-B14F-4D97-AF65-F5344CB8AC3E}">
        <p14:creationId xmlns:p14="http://schemas.microsoft.com/office/powerpoint/2010/main" val="750140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2.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585D8-18A6-DD08-F717-0B63B753D9DF}"/>
              </a:ext>
            </a:extLst>
          </p:cNvPr>
          <p:cNvSpPr>
            <a:spLocks noGrp="1"/>
          </p:cNvSpPr>
          <p:nvPr>
            <p:ph type="ctrTitle"/>
          </p:nvPr>
        </p:nvSpPr>
        <p:spPr>
          <a:xfrm>
            <a:off x="1524000" y="1122363"/>
            <a:ext cx="9144000" cy="1294266"/>
          </a:xfrm>
        </p:spPr>
        <p:txBody>
          <a:bodyPr/>
          <a:lstStyle/>
          <a:p>
            <a:r>
              <a:rPr lang="en-IN" dirty="0"/>
              <a:t>Unit 5</a:t>
            </a:r>
          </a:p>
        </p:txBody>
      </p:sp>
      <p:sp>
        <p:nvSpPr>
          <p:cNvPr id="3" name="Subtitle 2">
            <a:extLst>
              <a:ext uri="{FF2B5EF4-FFF2-40B4-BE49-F238E27FC236}">
                <a16:creationId xmlns:a16="http://schemas.microsoft.com/office/drawing/2014/main" id="{B1B37579-2BF4-248D-47AE-C5254ECB13F7}"/>
              </a:ext>
            </a:extLst>
          </p:cNvPr>
          <p:cNvSpPr>
            <a:spLocks noGrp="1"/>
          </p:cNvSpPr>
          <p:nvPr>
            <p:ph type="subTitle" idx="1"/>
          </p:nvPr>
        </p:nvSpPr>
        <p:spPr>
          <a:xfrm>
            <a:off x="979713" y="2938009"/>
            <a:ext cx="10406743" cy="3190648"/>
          </a:xfrm>
        </p:spPr>
        <p:txBody>
          <a:bodyPr>
            <a:normAutofit/>
          </a:bodyPr>
          <a:lstStyle/>
          <a:p>
            <a:pPr algn="just"/>
            <a:r>
              <a:rPr lang="en-US" sz="3000" dirty="0"/>
              <a:t>Planning – planning problem – Simple planning agent – Blocks world problem – Mean Ends analysis Learning - Machine learning - Learning concepts, methods and models Introduction to expert system – architecture of expert systems.</a:t>
            </a:r>
            <a:endParaRPr lang="en-IN" sz="3000" dirty="0"/>
          </a:p>
          <a:p>
            <a:endParaRPr lang="en-IN" dirty="0"/>
          </a:p>
        </p:txBody>
      </p:sp>
    </p:spTree>
    <p:extLst>
      <p:ext uri="{BB962C8B-B14F-4D97-AF65-F5344CB8AC3E}">
        <p14:creationId xmlns:p14="http://schemas.microsoft.com/office/powerpoint/2010/main" val="3618258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A9A17-0F3F-6413-0BAF-9FE0AB9D3F5B}"/>
              </a:ext>
            </a:extLst>
          </p:cNvPr>
          <p:cNvSpPr>
            <a:spLocks noGrp="1"/>
          </p:cNvSpPr>
          <p:nvPr>
            <p:ph type="title"/>
          </p:nvPr>
        </p:nvSpPr>
        <p:spPr/>
        <p:txBody>
          <a:bodyPr/>
          <a:lstStyle/>
          <a:p>
            <a:pPr algn="ctr"/>
            <a:r>
              <a:rPr lang="en-IN" dirty="0"/>
              <a:t>Planning</a:t>
            </a:r>
          </a:p>
        </p:txBody>
      </p:sp>
      <p:sp>
        <p:nvSpPr>
          <p:cNvPr id="3" name="Content Placeholder 2">
            <a:extLst>
              <a:ext uri="{FF2B5EF4-FFF2-40B4-BE49-F238E27FC236}">
                <a16:creationId xmlns:a16="http://schemas.microsoft.com/office/drawing/2014/main" id="{A6593C4F-71FF-68EA-9D9B-1DFF10720887}"/>
              </a:ext>
            </a:extLst>
          </p:cNvPr>
          <p:cNvSpPr>
            <a:spLocks noGrp="1"/>
          </p:cNvSpPr>
          <p:nvPr>
            <p:ph idx="1"/>
          </p:nvPr>
        </p:nvSpPr>
        <p:spPr/>
        <p:txBody>
          <a:bodyPr>
            <a:normAutofit/>
          </a:bodyPr>
          <a:lstStyle/>
          <a:p>
            <a:r>
              <a:rPr lang="en-US" dirty="0"/>
              <a:t> Planning refers to the process of deciding a sequence of actions that a system must take to achieve a specific goal. </a:t>
            </a:r>
          </a:p>
          <a:p>
            <a:r>
              <a:rPr lang="en-US" dirty="0"/>
              <a:t>Planning can be classified as:</a:t>
            </a:r>
          </a:p>
          <a:p>
            <a:pPr marL="0" indent="0">
              <a:buNone/>
            </a:pPr>
            <a:r>
              <a:rPr lang="en-US" dirty="0">
                <a:solidFill>
                  <a:srgbClr val="FF0000"/>
                </a:solidFill>
              </a:rPr>
              <a:t>1. Classical Planning</a:t>
            </a:r>
          </a:p>
          <a:p>
            <a:r>
              <a:rPr lang="en-US" dirty="0"/>
              <a:t> Fully observable, deterministic, finite, static and discrete.</a:t>
            </a:r>
          </a:p>
          <a:p>
            <a:pPr marL="0" indent="0">
              <a:buNone/>
            </a:pPr>
            <a:r>
              <a:rPr lang="en-US" dirty="0">
                <a:solidFill>
                  <a:srgbClr val="FF0000"/>
                </a:solidFill>
              </a:rPr>
              <a:t>2. Non classical Planning </a:t>
            </a:r>
          </a:p>
          <a:p>
            <a:r>
              <a:rPr lang="en-US" dirty="0"/>
              <a:t> Partially observable, stochastic with different algorithms and agent designs.</a:t>
            </a:r>
            <a:endParaRPr lang="en-IN" dirty="0"/>
          </a:p>
        </p:txBody>
      </p:sp>
    </p:spTree>
    <p:extLst>
      <p:ext uri="{BB962C8B-B14F-4D97-AF65-F5344CB8AC3E}">
        <p14:creationId xmlns:p14="http://schemas.microsoft.com/office/powerpoint/2010/main" val="218498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20DAE-0B01-2A8F-26B8-071C2A8E997B}"/>
              </a:ext>
            </a:extLst>
          </p:cNvPr>
          <p:cNvSpPr>
            <a:spLocks noGrp="1"/>
          </p:cNvSpPr>
          <p:nvPr>
            <p:ph type="title"/>
          </p:nvPr>
        </p:nvSpPr>
        <p:spPr>
          <a:xfrm>
            <a:off x="838200" y="365125"/>
            <a:ext cx="10515600" cy="701675"/>
          </a:xfrm>
        </p:spPr>
        <p:txBody>
          <a:bodyPr>
            <a:normAutofit fontScale="90000"/>
          </a:bodyPr>
          <a:lstStyle/>
          <a:p>
            <a:pPr algn="ctr"/>
            <a:br>
              <a:rPr lang="en-US" dirty="0"/>
            </a:br>
            <a:r>
              <a:rPr lang="en-US" dirty="0"/>
              <a:t>Importance of Planning in AI</a:t>
            </a:r>
            <a:br>
              <a:rPr lang="en-US" dirty="0"/>
            </a:br>
            <a:endParaRPr lang="en-IN" dirty="0"/>
          </a:p>
        </p:txBody>
      </p:sp>
      <p:sp>
        <p:nvSpPr>
          <p:cNvPr id="3" name="Content Placeholder 2">
            <a:extLst>
              <a:ext uri="{FF2B5EF4-FFF2-40B4-BE49-F238E27FC236}">
                <a16:creationId xmlns:a16="http://schemas.microsoft.com/office/drawing/2014/main" id="{9C41BB96-1F81-6ABA-FD30-F039AC3BCCAE}"/>
              </a:ext>
            </a:extLst>
          </p:cNvPr>
          <p:cNvSpPr>
            <a:spLocks noGrp="1"/>
          </p:cNvSpPr>
          <p:nvPr>
            <p:ph idx="1"/>
          </p:nvPr>
        </p:nvSpPr>
        <p:spPr>
          <a:xfrm>
            <a:off x="489857" y="1066800"/>
            <a:ext cx="10863943" cy="5584371"/>
          </a:xfrm>
        </p:spPr>
        <p:txBody>
          <a:bodyPr>
            <a:normAutofit/>
          </a:bodyPr>
          <a:lstStyle/>
          <a:p>
            <a:r>
              <a:rPr lang="en-US" dirty="0">
                <a:solidFill>
                  <a:srgbClr val="FF0000"/>
                </a:solidFill>
              </a:rPr>
              <a:t>Efficiency and Optimization: </a:t>
            </a:r>
          </a:p>
          <a:p>
            <a:pPr lvl="1"/>
            <a:r>
              <a:rPr lang="en-US" dirty="0"/>
              <a:t>Planning allows AI systems to choose the most efficient route to achieve a goal, minimizing resource usage and time. </a:t>
            </a:r>
          </a:p>
          <a:p>
            <a:r>
              <a:rPr lang="en-US" dirty="0">
                <a:solidFill>
                  <a:srgbClr val="FF0000"/>
                </a:solidFill>
              </a:rPr>
              <a:t>Adaptability:</a:t>
            </a:r>
            <a:r>
              <a:rPr lang="en-US" dirty="0"/>
              <a:t> </a:t>
            </a:r>
          </a:p>
          <a:p>
            <a:pPr lvl="1"/>
            <a:r>
              <a:rPr lang="en-US" dirty="0"/>
              <a:t>In real-world applications, AI systems often face uncertain environments. By incorporating planning, AI can adjust its course of action in response to new information or unforeseen obstacles. </a:t>
            </a:r>
          </a:p>
          <a:p>
            <a:r>
              <a:rPr lang="en-US" dirty="0">
                <a:solidFill>
                  <a:srgbClr val="FF0000"/>
                </a:solidFill>
              </a:rPr>
              <a:t>Autonomy:</a:t>
            </a:r>
            <a:r>
              <a:rPr lang="en-US" dirty="0"/>
              <a:t> </a:t>
            </a:r>
          </a:p>
          <a:p>
            <a:pPr lvl="1"/>
            <a:r>
              <a:rPr lang="en-US" dirty="0"/>
              <a:t>Planning is a key factor that enables AI systems to act autonomously, the ability to perform tasks without constant human intervention.</a:t>
            </a:r>
          </a:p>
          <a:p>
            <a:r>
              <a:rPr lang="en-US" dirty="0">
                <a:solidFill>
                  <a:srgbClr val="FF0000"/>
                </a:solidFill>
              </a:rPr>
              <a:t>Decision-Making:</a:t>
            </a:r>
            <a:r>
              <a:rPr lang="en-US" dirty="0"/>
              <a:t> </a:t>
            </a:r>
          </a:p>
          <a:p>
            <a:pPr lvl="1"/>
            <a:r>
              <a:rPr lang="en-US" dirty="0"/>
              <a:t>AI systems that utilize planning can make informed decisions by considering different possible outcomes. This makes planning critical in applications like medical diagnosis systems, financial forecasting, or game AI.</a:t>
            </a:r>
          </a:p>
          <a:p>
            <a:endParaRPr lang="en-IN" dirty="0"/>
          </a:p>
        </p:txBody>
      </p:sp>
    </p:spTree>
    <p:extLst>
      <p:ext uri="{BB962C8B-B14F-4D97-AF65-F5344CB8AC3E}">
        <p14:creationId xmlns:p14="http://schemas.microsoft.com/office/powerpoint/2010/main" val="354743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F4B1-6C6A-99F7-44E6-BF10863C521E}"/>
              </a:ext>
            </a:extLst>
          </p:cNvPr>
          <p:cNvSpPr>
            <a:spLocks noGrp="1"/>
          </p:cNvSpPr>
          <p:nvPr>
            <p:ph type="title"/>
          </p:nvPr>
        </p:nvSpPr>
        <p:spPr>
          <a:xfrm>
            <a:off x="838200" y="174171"/>
            <a:ext cx="10515600" cy="810532"/>
          </a:xfrm>
        </p:spPr>
        <p:txBody>
          <a:bodyPr/>
          <a:lstStyle/>
          <a:p>
            <a:pPr algn="ctr"/>
            <a:r>
              <a:rPr lang="en-IN" dirty="0"/>
              <a:t>Planning Problem</a:t>
            </a:r>
          </a:p>
        </p:txBody>
      </p:sp>
      <p:sp>
        <p:nvSpPr>
          <p:cNvPr id="3" name="Content Placeholder 2">
            <a:extLst>
              <a:ext uri="{FF2B5EF4-FFF2-40B4-BE49-F238E27FC236}">
                <a16:creationId xmlns:a16="http://schemas.microsoft.com/office/drawing/2014/main" id="{22DF474F-4B87-26F7-99EF-DC1BB6161AAD}"/>
              </a:ext>
            </a:extLst>
          </p:cNvPr>
          <p:cNvSpPr>
            <a:spLocks noGrp="1"/>
          </p:cNvSpPr>
          <p:nvPr>
            <p:ph idx="1"/>
          </p:nvPr>
        </p:nvSpPr>
        <p:spPr>
          <a:xfrm>
            <a:off x="838200" y="881744"/>
            <a:ext cx="10515600" cy="5802086"/>
          </a:xfrm>
        </p:spPr>
        <p:txBody>
          <a:bodyPr>
            <a:normAutofit fontScale="77500" lnSpcReduction="20000"/>
          </a:bodyPr>
          <a:lstStyle/>
          <a:p>
            <a:pPr>
              <a:lnSpc>
                <a:spcPct val="120000"/>
              </a:lnSpc>
            </a:pPr>
            <a:r>
              <a:rPr lang="en-US" dirty="0"/>
              <a:t>The planning problem is actually the question how to go to next state or the goal state from the current state. It involves two things 'how' and 'when'.</a:t>
            </a:r>
          </a:p>
          <a:p>
            <a:pPr>
              <a:lnSpc>
                <a:spcPct val="120000"/>
              </a:lnSpc>
            </a:pPr>
            <a:r>
              <a:rPr lang="en-US" dirty="0"/>
              <a:t>The planning problem is defined with:</a:t>
            </a:r>
          </a:p>
          <a:p>
            <a:pPr marL="514350" indent="-514350">
              <a:lnSpc>
                <a:spcPct val="120000"/>
              </a:lnSpc>
              <a:buAutoNum type="arabicPeriod"/>
            </a:pPr>
            <a:r>
              <a:rPr lang="en-US" dirty="0">
                <a:solidFill>
                  <a:srgbClr val="FF0000"/>
                </a:solidFill>
              </a:rPr>
              <a:t>Domain model</a:t>
            </a:r>
          </a:p>
          <a:p>
            <a:pPr>
              <a:lnSpc>
                <a:spcPct val="120000"/>
              </a:lnSpc>
            </a:pPr>
            <a:r>
              <a:rPr lang="en-US" dirty="0"/>
              <a:t>The domain model defines the actions along with the objects.</a:t>
            </a:r>
          </a:p>
          <a:p>
            <a:pPr>
              <a:lnSpc>
                <a:spcPct val="120000"/>
              </a:lnSpc>
            </a:pPr>
            <a:r>
              <a:rPr lang="en-US" dirty="0"/>
              <a:t> It is necessary to specify the operators too that actually describe the action.</a:t>
            </a:r>
          </a:p>
          <a:p>
            <a:pPr>
              <a:lnSpc>
                <a:spcPct val="120000"/>
              </a:lnSpc>
            </a:pPr>
            <a:r>
              <a:rPr lang="en-US" dirty="0"/>
              <a:t> Along with this, information about actions and state constraints while acting should also be given</a:t>
            </a:r>
          </a:p>
          <a:p>
            <a:pPr marL="0" indent="0">
              <a:lnSpc>
                <a:spcPct val="120000"/>
              </a:lnSpc>
              <a:buNone/>
            </a:pPr>
            <a:r>
              <a:rPr lang="en-US" dirty="0">
                <a:solidFill>
                  <a:srgbClr val="FF0000"/>
                </a:solidFill>
              </a:rPr>
              <a:t>2. Initial state</a:t>
            </a:r>
          </a:p>
          <a:p>
            <a:pPr>
              <a:lnSpc>
                <a:spcPct val="120000"/>
              </a:lnSpc>
            </a:pPr>
            <a:r>
              <a:rPr lang="en-US" dirty="0"/>
              <a:t>The initial state is the state where any action is yet to take place (the stage when the exam schedule is put up!).</a:t>
            </a:r>
          </a:p>
          <a:p>
            <a:pPr marL="0" indent="0">
              <a:lnSpc>
                <a:spcPct val="120000"/>
              </a:lnSpc>
              <a:buNone/>
            </a:pPr>
            <a:r>
              <a:rPr lang="en-US" dirty="0">
                <a:solidFill>
                  <a:srgbClr val="FF0000"/>
                </a:solidFill>
              </a:rPr>
              <a:t>3. Goal state (next state)</a:t>
            </a:r>
          </a:p>
          <a:p>
            <a:pPr>
              <a:lnSpc>
                <a:spcPct val="120000"/>
              </a:lnSpc>
            </a:pPr>
            <a:r>
              <a:rPr lang="en-US" dirty="0"/>
              <a:t>The final state or the goal state is the state which the plan is intended to achieve.</a:t>
            </a:r>
          </a:p>
          <a:p>
            <a:endParaRPr lang="en-IN" dirty="0"/>
          </a:p>
        </p:txBody>
      </p:sp>
    </p:spTree>
    <p:extLst>
      <p:ext uri="{BB962C8B-B14F-4D97-AF65-F5344CB8AC3E}">
        <p14:creationId xmlns:p14="http://schemas.microsoft.com/office/powerpoint/2010/main" val="2807192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81E02-DFF8-941F-9930-9E115D6971B3}"/>
              </a:ext>
            </a:extLst>
          </p:cNvPr>
          <p:cNvSpPr>
            <a:spLocks noGrp="1"/>
          </p:cNvSpPr>
          <p:nvPr>
            <p:ph type="title"/>
          </p:nvPr>
        </p:nvSpPr>
        <p:spPr>
          <a:xfrm>
            <a:off x="1028700" y="0"/>
            <a:ext cx="10515600" cy="810532"/>
          </a:xfrm>
        </p:spPr>
        <p:txBody>
          <a:bodyPr/>
          <a:lstStyle/>
          <a:p>
            <a:pPr algn="ctr"/>
            <a:r>
              <a:rPr lang="en-IN" dirty="0"/>
              <a:t>Planning Representation</a:t>
            </a:r>
          </a:p>
        </p:txBody>
      </p:sp>
      <p:pic>
        <p:nvPicPr>
          <p:cNvPr id="5" name="Content Placeholder 4">
            <a:extLst>
              <a:ext uri="{FF2B5EF4-FFF2-40B4-BE49-F238E27FC236}">
                <a16:creationId xmlns:a16="http://schemas.microsoft.com/office/drawing/2014/main" id="{BC8B38FB-5079-2475-67E7-CF019B581BC3}"/>
              </a:ext>
            </a:extLst>
          </p:cNvPr>
          <p:cNvPicPr>
            <a:picLocks noGrp="1" noChangeAspect="1"/>
          </p:cNvPicPr>
          <p:nvPr>
            <p:ph idx="1"/>
          </p:nvPr>
        </p:nvPicPr>
        <p:blipFill>
          <a:blip r:embed="rId2"/>
          <a:stretch>
            <a:fillRect/>
          </a:stretch>
        </p:blipFill>
        <p:spPr>
          <a:xfrm>
            <a:off x="3341914" y="990599"/>
            <a:ext cx="8545286" cy="5671457"/>
          </a:xfrm>
        </p:spPr>
      </p:pic>
      <p:sp>
        <p:nvSpPr>
          <p:cNvPr id="7" name="TextBox 6">
            <a:extLst>
              <a:ext uri="{FF2B5EF4-FFF2-40B4-BE49-F238E27FC236}">
                <a16:creationId xmlns:a16="http://schemas.microsoft.com/office/drawing/2014/main" id="{CEA611DA-297B-F07B-E111-09CD98380E62}"/>
              </a:ext>
            </a:extLst>
          </p:cNvPr>
          <p:cNvSpPr txBox="1"/>
          <p:nvPr/>
        </p:nvSpPr>
        <p:spPr>
          <a:xfrm>
            <a:off x="435429" y="1342349"/>
            <a:ext cx="2601685" cy="3416320"/>
          </a:xfrm>
          <a:prstGeom prst="rect">
            <a:avLst/>
          </a:prstGeom>
          <a:noFill/>
        </p:spPr>
        <p:txBody>
          <a:bodyPr wrap="square">
            <a:spAutoFit/>
          </a:bodyPr>
          <a:lstStyle/>
          <a:p>
            <a:r>
              <a:rPr lang="en-US" sz="2400" dirty="0"/>
              <a:t>Consider a delivery robot Rob with mail and coffee to deliver. Assume a simplified problem domain with four locations</a:t>
            </a:r>
            <a:endParaRPr lang="en-IN" sz="2400" dirty="0"/>
          </a:p>
        </p:txBody>
      </p:sp>
    </p:spTree>
    <p:extLst>
      <p:ext uri="{BB962C8B-B14F-4D97-AF65-F5344CB8AC3E}">
        <p14:creationId xmlns:p14="http://schemas.microsoft.com/office/powerpoint/2010/main" val="2209161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A1967-14E7-705F-3842-324B4828FE33}"/>
              </a:ext>
            </a:extLst>
          </p:cNvPr>
          <p:cNvSpPr>
            <a:spLocks noGrp="1"/>
          </p:cNvSpPr>
          <p:nvPr>
            <p:ph type="title"/>
          </p:nvPr>
        </p:nvSpPr>
        <p:spPr/>
        <p:txBody>
          <a:bodyPr/>
          <a:lstStyle/>
          <a:p>
            <a:pPr algn="ctr"/>
            <a:r>
              <a:rPr lang="en-IN" dirty="0"/>
              <a:t>Basic Planning Representation</a:t>
            </a:r>
          </a:p>
        </p:txBody>
      </p:sp>
      <p:pic>
        <p:nvPicPr>
          <p:cNvPr id="5" name="Content Placeholder 4">
            <a:extLst>
              <a:ext uri="{FF2B5EF4-FFF2-40B4-BE49-F238E27FC236}">
                <a16:creationId xmlns:a16="http://schemas.microsoft.com/office/drawing/2014/main" id="{104AA07C-EDEE-7AF2-C824-0D97B441E713}"/>
              </a:ext>
            </a:extLst>
          </p:cNvPr>
          <p:cNvPicPr>
            <a:picLocks noGrp="1" noChangeAspect="1"/>
          </p:cNvPicPr>
          <p:nvPr>
            <p:ph idx="1"/>
          </p:nvPr>
        </p:nvPicPr>
        <p:blipFill>
          <a:blip r:embed="rId2"/>
          <a:stretch>
            <a:fillRect/>
          </a:stretch>
        </p:blipFill>
        <p:spPr>
          <a:xfrm>
            <a:off x="401617" y="1799544"/>
            <a:ext cx="6968011" cy="4080587"/>
          </a:xfrm>
        </p:spPr>
      </p:pic>
      <p:sp>
        <p:nvSpPr>
          <p:cNvPr id="7" name="TextBox 6">
            <a:extLst>
              <a:ext uri="{FF2B5EF4-FFF2-40B4-BE49-F238E27FC236}">
                <a16:creationId xmlns:a16="http://schemas.microsoft.com/office/drawing/2014/main" id="{423AFC6F-A4E5-A193-1A7D-DE81354D0789}"/>
              </a:ext>
            </a:extLst>
          </p:cNvPr>
          <p:cNvSpPr txBox="1"/>
          <p:nvPr/>
        </p:nvSpPr>
        <p:spPr>
          <a:xfrm>
            <a:off x="7282543" y="2382559"/>
            <a:ext cx="4507840" cy="2092881"/>
          </a:xfrm>
          <a:prstGeom prst="rect">
            <a:avLst/>
          </a:prstGeom>
          <a:noFill/>
        </p:spPr>
        <p:txBody>
          <a:bodyPr wrap="square">
            <a:spAutoFit/>
          </a:bodyPr>
          <a:lstStyle/>
          <a:p>
            <a:pPr marL="285750" indent="-285750">
              <a:buFont typeface="Arial" panose="020B0604020202020204" pitchFamily="34" charset="0"/>
              <a:buChar char="•"/>
            </a:pPr>
            <a:r>
              <a:rPr lang="en-IN" sz="2600" dirty="0"/>
              <a:t>Planning representation involves</a:t>
            </a:r>
          </a:p>
          <a:p>
            <a:pPr lvl="1"/>
            <a:r>
              <a:rPr lang="en-IN" sz="2600" dirty="0"/>
              <a:t>1) State Representation</a:t>
            </a:r>
          </a:p>
          <a:p>
            <a:pPr lvl="1"/>
            <a:r>
              <a:rPr lang="en-IN" sz="2600" dirty="0"/>
              <a:t>2) Goal Representation</a:t>
            </a:r>
          </a:p>
          <a:p>
            <a:pPr lvl="1"/>
            <a:r>
              <a:rPr lang="en-IN" sz="2600" dirty="0"/>
              <a:t>3) Action Representation</a:t>
            </a:r>
          </a:p>
        </p:txBody>
      </p:sp>
    </p:spTree>
    <p:extLst>
      <p:ext uri="{BB962C8B-B14F-4D97-AF65-F5344CB8AC3E}">
        <p14:creationId xmlns:p14="http://schemas.microsoft.com/office/powerpoint/2010/main" val="3513191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16C7-4656-9F35-F05D-89A0895892C0}"/>
              </a:ext>
            </a:extLst>
          </p:cNvPr>
          <p:cNvSpPr>
            <a:spLocks noGrp="1"/>
          </p:cNvSpPr>
          <p:nvPr>
            <p:ph type="title"/>
          </p:nvPr>
        </p:nvSpPr>
        <p:spPr>
          <a:xfrm>
            <a:off x="947057" y="283029"/>
            <a:ext cx="10515600" cy="690789"/>
          </a:xfrm>
        </p:spPr>
        <p:txBody>
          <a:bodyPr>
            <a:normAutofit fontScale="90000"/>
          </a:bodyPr>
          <a:lstStyle/>
          <a:p>
            <a:pPr algn="ctr"/>
            <a:r>
              <a:rPr lang="en-IN" dirty="0"/>
              <a:t>Planning Representation</a:t>
            </a:r>
          </a:p>
        </p:txBody>
      </p:sp>
      <p:sp>
        <p:nvSpPr>
          <p:cNvPr id="3" name="Content Placeholder 2">
            <a:extLst>
              <a:ext uri="{FF2B5EF4-FFF2-40B4-BE49-F238E27FC236}">
                <a16:creationId xmlns:a16="http://schemas.microsoft.com/office/drawing/2014/main" id="{182B63FC-0B7C-5B38-DF84-7D1A7AE46D3A}"/>
              </a:ext>
            </a:extLst>
          </p:cNvPr>
          <p:cNvSpPr>
            <a:spLocks noGrp="1"/>
          </p:cNvSpPr>
          <p:nvPr>
            <p:ph idx="1"/>
          </p:nvPr>
        </p:nvSpPr>
        <p:spPr>
          <a:xfrm>
            <a:off x="391886" y="1191532"/>
            <a:ext cx="11310257" cy="5519057"/>
          </a:xfrm>
        </p:spPr>
        <p:txBody>
          <a:bodyPr>
            <a:normAutofit fontScale="92500" lnSpcReduction="20000"/>
          </a:bodyPr>
          <a:lstStyle/>
          <a:p>
            <a:pPr marL="0" indent="0">
              <a:buNone/>
            </a:pPr>
            <a:r>
              <a:rPr lang="en-US" dirty="0">
                <a:solidFill>
                  <a:srgbClr val="FF0000"/>
                </a:solidFill>
              </a:rPr>
              <a:t>State Representation:</a:t>
            </a:r>
          </a:p>
          <a:p>
            <a:pPr marL="0" indent="0">
              <a:buNone/>
            </a:pPr>
            <a:r>
              <a:rPr lang="en-US" dirty="0"/>
              <a:t>State representation defines how an agent perceives and models its environment, including current conditions and constraints.</a:t>
            </a:r>
          </a:p>
          <a:p>
            <a:r>
              <a:rPr lang="en-US" dirty="0">
                <a:solidFill>
                  <a:schemeClr val="accent5"/>
                </a:solidFill>
              </a:rPr>
              <a:t>State space: </a:t>
            </a:r>
            <a:r>
              <a:rPr lang="en-US" dirty="0"/>
              <a:t>A state-space is a representation of the problem where each state represents a snapshot of the system's current condition, and actions transform one state into another.</a:t>
            </a:r>
          </a:p>
          <a:p>
            <a:r>
              <a:rPr lang="en-US" dirty="0">
                <a:solidFill>
                  <a:schemeClr val="accent5"/>
                </a:solidFill>
              </a:rPr>
              <a:t> Initial state: </a:t>
            </a:r>
            <a:r>
              <a:rPr lang="en-US" dirty="0"/>
              <a:t>The starting point or the current condition of the agent before any actions are taken. </a:t>
            </a:r>
          </a:p>
          <a:p>
            <a:r>
              <a:rPr lang="en-US" dirty="0">
                <a:solidFill>
                  <a:schemeClr val="accent5"/>
                </a:solidFill>
              </a:rPr>
              <a:t>Variables and features: </a:t>
            </a:r>
            <a:r>
              <a:rPr lang="en-US" dirty="0"/>
              <a:t>States are often described using variables and features, which capture relevant information about the environment and the agent's position. </a:t>
            </a:r>
          </a:p>
          <a:p>
            <a:r>
              <a:rPr lang="en-US" dirty="0">
                <a:solidFill>
                  <a:schemeClr val="accent5"/>
                </a:solidFill>
              </a:rPr>
              <a:t>Desired outcome: </a:t>
            </a:r>
            <a:r>
              <a:rPr lang="en-US" dirty="0"/>
              <a:t>The goal state defines the desired condition that the agent aims to reach through its actions. </a:t>
            </a:r>
          </a:p>
          <a:p>
            <a:r>
              <a:rPr lang="en-US" dirty="0">
                <a:solidFill>
                  <a:schemeClr val="accent5"/>
                </a:solidFill>
              </a:rPr>
              <a:t>Example:</a:t>
            </a:r>
            <a:r>
              <a:rPr lang="en-US" dirty="0"/>
              <a:t> In a robotic planning scenario, the state might be represented by the robot's location, the location of objects, and the status of various tasks.</a:t>
            </a:r>
          </a:p>
        </p:txBody>
      </p:sp>
    </p:spTree>
    <p:extLst>
      <p:ext uri="{BB962C8B-B14F-4D97-AF65-F5344CB8AC3E}">
        <p14:creationId xmlns:p14="http://schemas.microsoft.com/office/powerpoint/2010/main" val="99394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CD8F-2E92-713F-3CCE-2D8F12247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CA9A5-57AB-84F9-D468-DD52776053A7}"/>
              </a:ext>
            </a:extLst>
          </p:cNvPr>
          <p:cNvSpPr>
            <a:spLocks noGrp="1"/>
          </p:cNvSpPr>
          <p:nvPr>
            <p:ph type="title"/>
          </p:nvPr>
        </p:nvSpPr>
        <p:spPr>
          <a:xfrm>
            <a:off x="947057" y="283029"/>
            <a:ext cx="10515600" cy="690789"/>
          </a:xfrm>
        </p:spPr>
        <p:txBody>
          <a:bodyPr>
            <a:normAutofit fontScale="90000"/>
          </a:bodyPr>
          <a:lstStyle/>
          <a:p>
            <a:pPr algn="ctr"/>
            <a:r>
              <a:rPr lang="en-IN" dirty="0"/>
              <a:t>Planning Representation</a:t>
            </a:r>
          </a:p>
        </p:txBody>
      </p:sp>
      <p:sp>
        <p:nvSpPr>
          <p:cNvPr id="3" name="Content Placeholder 2">
            <a:extLst>
              <a:ext uri="{FF2B5EF4-FFF2-40B4-BE49-F238E27FC236}">
                <a16:creationId xmlns:a16="http://schemas.microsoft.com/office/drawing/2014/main" id="{6D8190C7-9FE7-F911-9EAA-EB47122290B6}"/>
              </a:ext>
            </a:extLst>
          </p:cNvPr>
          <p:cNvSpPr>
            <a:spLocks noGrp="1"/>
          </p:cNvSpPr>
          <p:nvPr>
            <p:ph idx="1"/>
          </p:nvPr>
        </p:nvSpPr>
        <p:spPr>
          <a:xfrm>
            <a:off x="391886" y="1191532"/>
            <a:ext cx="11310257" cy="5519057"/>
          </a:xfrm>
        </p:spPr>
        <p:txBody>
          <a:bodyPr>
            <a:normAutofit fontScale="92500" lnSpcReduction="10000"/>
          </a:bodyPr>
          <a:lstStyle/>
          <a:p>
            <a:pPr marL="0" indent="0">
              <a:buNone/>
            </a:pPr>
            <a:r>
              <a:rPr lang="en-US" dirty="0">
                <a:solidFill>
                  <a:srgbClr val="FF0000"/>
                </a:solidFill>
              </a:rPr>
              <a:t>Goal Representation:</a:t>
            </a:r>
          </a:p>
          <a:p>
            <a:pPr marL="0" indent="0">
              <a:buNone/>
            </a:pPr>
            <a:r>
              <a:rPr lang="en-US" dirty="0"/>
              <a:t>Goal representation specifies the desired outcome that the planning process aims to achieve. These two concepts are crucial for developing efficient and effective planning algorithms. </a:t>
            </a:r>
          </a:p>
          <a:p>
            <a:r>
              <a:rPr lang="en-US" dirty="0">
                <a:solidFill>
                  <a:schemeClr val="accent5"/>
                </a:solidFill>
              </a:rPr>
              <a:t>Goal conditions: </a:t>
            </a:r>
            <a:r>
              <a:rPr lang="en-US" dirty="0"/>
              <a:t>Goals can be expressed as conditions that need to be satisfied in the final state, such as specific objects being at a particular location or tasks being completed.</a:t>
            </a:r>
          </a:p>
          <a:p>
            <a:r>
              <a:rPr lang="en-US" dirty="0">
                <a:solidFill>
                  <a:schemeClr val="accent5"/>
                </a:solidFill>
              </a:rPr>
              <a:t>Goal types: </a:t>
            </a:r>
            <a:r>
              <a:rPr lang="en-US" dirty="0"/>
              <a:t>Goals can be deterministic (achieving a single specific state) or involve a range of acceptable states, depending on the problem. </a:t>
            </a:r>
          </a:p>
          <a:p>
            <a:r>
              <a:rPr lang="en-US" dirty="0">
                <a:solidFill>
                  <a:schemeClr val="accent5"/>
                </a:solidFill>
              </a:rPr>
              <a:t>Goal hierarchy:</a:t>
            </a:r>
            <a:r>
              <a:rPr lang="en-US" dirty="0"/>
              <a:t> In some cases, goals may be organized hierarchically, with higher-level goals decomposed into sub-goals, allowing for more flexible and efficient planning. </a:t>
            </a:r>
          </a:p>
          <a:p>
            <a:r>
              <a:rPr lang="en-US" dirty="0">
                <a:solidFill>
                  <a:schemeClr val="accent5"/>
                </a:solidFill>
              </a:rPr>
              <a:t>Example: I</a:t>
            </a:r>
            <a:r>
              <a:rPr lang="en-US" dirty="0"/>
              <a:t>n a robotic planning, the goal might be to move a specific object to a particular location, or to complete a sequence of tasks in a certain order. </a:t>
            </a:r>
          </a:p>
        </p:txBody>
      </p:sp>
    </p:spTree>
    <p:extLst>
      <p:ext uri="{BB962C8B-B14F-4D97-AF65-F5344CB8AC3E}">
        <p14:creationId xmlns:p14="http://schemas.microsoft.com/office/powerpoint/2010/main" val="1803542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2D3F-2F8F-87D4-6D64-49C4252FC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ACD38-1D64-19D5-1B2E-57B04D061193}"/>
              </a:ext>
            </a:extLst>
          </p:cNvPr>
          <p:cNvSpPr>
            <a:spLocks noGrp="1"/>
          </p:cNvSpPr>
          <p:nvPr>
            <p:ph type="title"/>
          </p:nvPr>
        </p:nvSpPr>
        <p:spPr>
          <a:xfrm>
            <a:off x="947057" y="283029"/>
            <a:ext cx="10515600" cy="690789"/>
          </a:xfrm>
        </p:spPr>
        <p:txBody>
          <a:bodyPr>
            <a:normAutofit fontScale="90000"/>
          </a:bodyPr>
          <a:lstStyle/>
          <a:p>
            <a:pPr algn="ctr"/>
            <a:r>
              <a:rPr lang="en-IN" dirty="0"/>
              <a:t>Planning Representation</a:t>
            </a:r>
          </a:p>
        </p:txBody>
      </p:sp>
      <p:sp>
        <p:nvSpPr>
          <p:cNvPr id="3" name="Content Placeholder 2">
            <a:extLst>
              <a:ext uri="{FF2B5EF4-FFF2-40B4-BE49-F238E27FC236}">
                <a16:creationId xmlns:a16="http://schemas.microsoft.com/office/drawing/2014/main" id="{112B8AE0-F7A3-B16E-D2C2-CA82C5F86A36}"/>
              </a:ext>
            </a:extLst>
          </p:cNvPr>
          <p:cNvSpPr>
            <a:spLocks noGrp="1"/>
          </p:cNvSpPr>
          <p:nvPr>
            <p:ph idx="1"/>
          </p:nvPr>
        </p:nvSpPr>
        <p:spPr>
          <a:xfrm>
            <a:off x="391886" y="973818"/>
            <a:ext cx="11310257" cy="5736771"/>
          </a:xfrm>
        </p:spPr>
        <p:txBody>
          <a:bodyPr>
            <a:normAutofit fontScale="92500" lnSpcReduction="20000"/>
          </a:bodyPr>
          <a:lstStyle/>
          <a:p>
            <a:pPr marL="0" indent="0">
              <a:buNone/>
            </a:pPr>
            <a:r>
              <a:rPr lang="en-US" dirty="0">
                <a:solidFill>
                  <a:srgbClr val="FF0000"/>
                </a:solidFill>
              </a:rPr>
              <a:t>Action Representation:</a:t>
            </a:r>
          </a:p>
          <a:p>
            <a:r>
              <a:rPr lang="en-US" dirty="0"/>
              <a:t>In AI, action representation refers to how an AI system understands and expresses what actions can be taken and their potential consequences.</a:t>
            </a:r>
          </a:p>
          <a:p>
            <a:r>
              <a:rPr lang="en-US" dirty="0"/>
              <a:t> It's crucial for AI to be able to plan, execute, and learn effectively within a given environment. </a:t>
            </a:r>
          </a:p>
          <a:p>
            <a:r>
              <a:rPr lang="en-US" dirty="0"/>
              <a:t>This representation helps AI models understand the impact of different actions and choose the most appropriate ones to achieve a desired goal. </a:t>
            </a:r>
          </a:p>
          <a:p>
            <a:pPr marL="0" indent="0">
              <a:buNone/>
            </a:pPr>
            <a:r>
              <a:rPr lang="en-US" dirty="0">
                <a:solidFill>
                  <a:srgbClr val="FF0000"/>
                </a:solidFill>
              </a:rPr>
              <a:t>Features:</a:t>
            </a:r>
          </a:p>
          <a:p>
            <a:r>
              <a:rPr lang="en-US" dirty="0">
                <a:solidFill>
                  <a:schemeClr val="accent5"/>
                </a:solidFill>
              </a:rPr>
              <a:t>Defining Actions: </a:t>
            </a:r>
            <a:r>
              <a:rPr lang="en-US" dirty="0"/>
              <a:t>Action representation specifies what an AI system can do. This includes the types of actions available, their preconditions and their effects </a:t>
            </a:r>
          </a:p>
          <a:p>
            <a:r>
              <a:rPr lang="en-US" dirty="0">
                <a:solidFill>
                  <a:schemeClr val="accent5"/>
                </a:solidFill>
              </a:rPr>
              <a:t>Understanding Consequences: </a:t>
            </a:r>
            <a:r>
              <a:rPr lang="en-US" dirty="0"/>
              <a:t>It helps AI understand the impact of actions. </a:t>
            </a:r>
          </a:p>
          <a:p>
            <a:r>
              <a:rPr lang="en-US" dirty="0">
                <a:solidFill>
                  <a:schemeClr val="accent5"/>
                </a:solidFill>
              </a:rPr>
              <a:t>Planning and Execution: </a:t>
            </a:r>
            <a:r>
              <a:rPr lang="en-US" dirty="0"/>
              <a:t>It allows the AI to create a sequence of actions to achieve a goal by considering the consequences of each action.</a:t>
            </a:r>
          </a:p>
          <a:p>
            <a:r>
              <a:rPr lang="en-US" dirty="0"/>
              <a:t> </a:t>
            </a:r>
            <a:r>
              <a:rPr lang="en-US" dirty="0">
                <a:solidFill>
                  <a:schemeClr val="accent5"/>
                </a:solidFill>
              </a:rPr>
              <a:t>Learning: </a:t>
            </a:r>
            <a:r>
              <a:rPr lang="en-US" dirty="0"/>
              <a:t>AI can learn from its actions and their consequences, improving its ability to perform tasks and make decisions.</a:t>
            </a:r>
          </a:p>
        </p:txBody>
      </p:sp>
    </p:spTree>
    <p:extLst>
      <p:ext uri="{BB962C8B-B14F-4D97-AF65-F5344CB8AC3E}">
        <p14:creationId xmlns:p14="http://schemas.microsoft.com/office/powerpoint/2010/main" val="265909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A7BF-ABD8-FD06-BAD5-7AE4D6847B06}"/>
              </a:ext>
            </a:extLst>
          </p:cNvPr>
          <p:cNvSpPr>
            <a:spLocks noGrp="1"/>
          </p:cNvSpPr>
          <p:nvPr>
            <p:ph type="title"/>
          </p:nvPr>
        </p:nvSpPr>
        <p:spPr/>
        <p:txBody>
          <a:bodyPr/>
          <a:lstStyle/>
          <a:p>
            <a:pPr algn="ctr"/>
            <a:r>
              <a:rPr lang="en-IN" dirty="0"/>
              <a:t>Action Representation</a:t>
            </a:r>
          </a:p>
        </p:txBody>
      </p:sp>
      <p:pic>
        <p:nvPicPr>
          <p:cNvPr id="7" name="Picture 6">
            <a:extLst>
              <a:ext uri="{FF2B5EF4-FFF2-40B4-BE49-F238E27FC236}">
                <a16:creationId xmlns:a16="http://schemas.microsoft.com/office/drawing/2014/main" id="{3B0B05F3-DA3E-A2CC-70F4-28A091BC1F45}"/>
              </a:ext>
            </a:extLst>
          </p:cNvPr>
          <p:cNvPicPr>
            <a:picLocks noChangeAspect="1"/>
          </p:cNvPicPr>
          <p:nvPr/>
        </p:nvPicPr>
        <p:blipFill>
          <a:blip r:embed="rId2"/>
          <a:stretch>
            <a:fillRect/>
          </a:stretch>
        </p:blipFill>
        <p:spPr>
          <a:xfrm>
            <a:off x="613337" y="1555633"/>
            <a:ext cx="10965325" cy="4508732"/>
          </a:xfrm>
          <a:prstGeom prst="rect">
            <a:avLst/>
          </a:prstGeom>
        </p:spPr>
      </p:pic>
    </p:spTree>
    <p:extLst>
      <p:ext uri="{BB962C8B-B14F-4D97-AF65-F5344CB8AC3E}">
        <p14:creationId xmlns:p14="http://schemas.microsoft.com/office/powerpoint/2010/main" val="1335258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9851-3A8D-DC50-60F7-267D0D4B02BF}"/>
              </a:ext>
            </a:extLst>
          </p:cNvPr>
          <p:cNvSpPr>
            <a:spLocks noGrp="1"/>
          </p:cNvSpPr>
          <p:nvPr>
            <p:ph type="title"/>
          </p:nvPr>
        </p:nvSpPr>
        <p:spPr>
          <a:xfrm>
            <a:off x="839788" y="365125"/>
            <a:ext cx="10515600" cy="712561"/>
          </a:xfrm>
        </p:spPr>
        <p:txBody>
          <a:bodyPr/>
          <a:lstStyle/>
          <a:p>
            <a:pPr algn="ctr"/>
            <a:r>
              <a:rPr lang="en-IN" dirty="0"/>
              <a:t>Planning vs Problem solving</a:t>
            </a:r>
          </a:p>
        </p:txBody>
      </p:sp>
      <p:sp>
        <p:nvSpPr>
          <p:cNvPr id="3" name="Text Placeholder 2">
            <a:extLst>
              <a:ext uri="{FF2B5EF4-FFF2-40B4-BE49-F238E27FC236}">
                <a16:creationId xmlns:a16="http://schemas.microsoft.com/office/drawing/2014/main" id="{033F68C8-B130-1C6D-F723-DAE60141C850}"/>
              </a:ext>
            </a:extLst>
          </p:cNvPr>
          <p:cNvSpPr>
            <a:spLocks noGrp="1"/>
          </p:cNvSpPr>
          <p:nvPr>
            <p:ph type="body" idx="1"/>
          </p:nvPr>
        </p:nvSpPr>
        <p:spPr>
          <a:xfrm>
            <a:off x="741817" y="721405"/>
            <a:ext cx="5157787" cy="823912"/>
          </a:xfrm>
        </p:spPr>
        <p:txBody>
          <a:bodyPr/>
          <a:lstStyle/>
          <a:p>
            <a:r>
              <a:rPr lang="en-IN" dirty="0"/>
              <a:t>Planning</a:t>
            </a:r>
          </a:p>
        </p:txBody>
      </p:sp>
      <p:sp>
        <p:nvSpPr>
          <p:cNvPr id="6" name="Text Placeholder 5">
            <a:extLst>
              <a:ext uri="{FF2B5EF4-FFF2-40B4-BE49-F238E27FC236}">
                <a16:creationId xmlns:a16="http://schemas.microsoft.com/office/drawing/2014/main" id="{BB2A176C-C235-01D8-367E-6062A29036B6}"/>
              </a:ext>
            </a:extLst>
          </p:cNvPr>
          <p:cNvSpPr>
            <a:spLocks noGrp="1"/>
          </p:cNvSpPr>
          <p:nvPr>
            <p:ph type="body" sz="quarter" idx="3"/>
          </p:nvPr>
        </p:nvSpPr>
        <p:spPr>
          <a:xfrm>
            <a:off x="6096000" y="740569"/>
            <a:ext cx="5183188" cy="823912"/>
          </a:xfrm>
        </p:spPr>
        <p:txBody>
          <a:bodyPr/>
          <a:lstStyle/>
          <a:p>
            <a:r>
              <a:rPr lang="en-IN" dirty="0"/>
              <a:t>Problem solving</a:t>
            </a:r>
          </a:p>
        </p:txBody>
      </p:sp>
      <p:sp>
        <p:nvSpPr>
          <p:cNvPr id="7" name="Content Placeholder 6">
            <a:extLst>
              <a:ext uri="{FF2B5EF4-FFF2-40B4-BE49-F238E27FC236}">
                <a16:creationId xmlns:a16="http://schemas.microsoft.com/office/drawing/2014/main" id="{C4D539F2-3EF9-E5AA-844A-4B7AD29881DF}"/>
              </a:ext>
            </a:extLst>
          </p:cNvPr>
          <p:cNvSpPr>
            <a:spLocks noGrp="1"/>
          </p:cNvSpPr>
          <p:nvPr>
            <p:ph sz="quarter" idx="4"/>
          </p:nvPr>
        </p:nvSpPr>
        <p:spPr>
          <a:xfrm>
            <a:off x="6172200" y="1699532"/>
            <a:ext cx="5183188" cy="4490131"/>
          </a:xfrm>
        </p:spPr>
        <p:txBody>
          <a:bodyPr>
            <a:normAutofit fontScale="92500" lnSpcReduction="10000"/>
          </a:bodyPr>
          <a:lstStyle/>
          <a:p>
            <a:r>
              <a:rPr lang="en-US" dirty="0"/>
              <a:t>Reactive: Problem-solving arises when something goes wrong or when there are obstacles to overcome.</a:t>
            </a:r>
          </a:p>
          <a:p>
            <a:r>
              <a:rPr lang="en-US" dirty="0"/>
              <a:t> Present-focused: It addresses immediate issues and finds solutions to restore progress towards the original goal.</a:t>
            </a:r>
          </a:p>
          <a:p>
            <a:r>
              <a:rPr lang="en-US" dirty="0"/>
              <a:t> Analytical: Problem-solving often involves identifying the root cause of the issue, exploring potential solutions, and evaluating their effectiveness. </a:t>
            </a:r>
            <a:endParaRPr lang="en-IN" dirty="0"/>
          </a:p>
        </p:txBody>
      </p:sp>
      <p:sp>
        <p:nvSpPr>
          <p:cNvPr id="9" name="TextBox 8">
            <a:extLst>
              <a:ext uri="{FF2B5EF4-FFF2-40B4-BE49-F238E27FC236}">
                <a16:creationId xmlns:a16="http://schemas.microsoft.com/office/drawing/2014/main" id="{EEF9DEFA-805B-6AB6-CAFA-507701276E9C}"/>
              </a:ext>
            </a:extLst>
          </p:cNvPr>
          <p:cNvSpPr txBox="1"/>
          <p:nvPr/>
        </p:nvSpPr>
        <p:spPr>
          <a:xfrm>
            <a:off x="414905" y="1545317"/>
            <a:ext cx="5475061" cy="4893647"/>
          </a:xfrm>
          <a:prstGeom prst="rect">
            <a:avLst/>
          </a:prstGeom>
          <a:noFill/>
        </p:spPr>
        <p:txBody>
          <a:bodyPr wrap="square">
            <a:spAutoFit/>
          </a:bodyPr>
          <a:lstStyle/>
          <a:p>
            <a:pPr marL="285750" indent="-285750">
              <a:buFont typeface="Arial" panose="020B0604020202020204" pitchFamily="34" charset="0"/>
              <a:buChar char="•"/>
            </a:pPr>
            <a:r>
              <a:rPr lang="en-IN" sz="2600" dirty="0"/>
              <a:t>Proactive: Planning involves envisioning the future and outlining the steps needed to achieve a desired outcome.</a:t>
            </a:r>
          </a:p>
          <a:p>
            <a:pPr marL="285750" indent="-285750">
              <a:buFont typeface="Arial" panose="020B0604020202020204" pitchFamily="34" charset="0"/>
              <a:buChar char="•"/>
            </a:pPr>
            <a:r>
              <a:rPr lang="en-IN" sz="2600" dirty="0"/>
              <a:t> Future-oriented: It focuses on creating a roadmap for success, often involving long-term goals and strategies.</a:t>
            </a:r>
          </a:p>
          <a:p>
            <a:pPr marL="285750" indent="-285750">
              <a:buFont typeface="Arial" panose="020B0604020202020204" pitchFamily="34" charset="0"/>
              <a:buChar char="•"/>
            </a:pPr>
            <a:r>
              <a:rPr lang="en-IN" sz="2600" dirty="0"/>
              <a:t> Systematic: Planning typically involves setting objectives, identifying resources, and assigning responsibilities. </a:t>
            </a:r>
          </a:p>
        </p:txBody>
      </p:sp>
    </p:spTree>
    <p:extLst>
      <p:ext uri="{BB962C8B-B14F-4D97-AF65-F5344CB8AC3E}">
        <p14:creationId xmlns:p14="http://schemas.microsoft.com/office/powerpoint/2010/main" val="1911746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68E53-0BC7-E13B-7214-98496DC23377}"/>
              </a:ext>
            </a:extLst>
          </p:cNvPr>
          <p:cNvSpPr>
            <a:spLocks noGrp="1"/>
          </p:cNvSpPr>
          <p:nvPr>
            <p:ph type="title"/>
          </p:nvPr>
        </p:nvSpPr>
        <p:spPr>
          <a:xfrm>
            <a:off x="838200" y="365126"/>
            <a:ext cx="10515600" cy="810532"/>
          </a:xfrm>
        </p:spPr>
        <p:txBody>
          <a:bodyPr/>
          <a:lstStyle/>
          <a:p>
            <a:pPr algn="ctr"/>
            <a:r>
              <a:rPr lang="en-IN" dirty="0"/>
              <a:t>Simple planning agent</a:t>
            </a:r>
          </a:p>
        </p:txBody>
      </p:sp>
      <p:sp>
        <p:nvSpPr>
          <p:cNvPr id="3" name="Content Placeholder 2">
            <a:extLst>
              <a:ext uri="{FF2B5EF4-FFF2-40B4-BE49-F238E27FC236}">
                <a16:creationId xmlns:a16="http://schemas.microsoft.com/office/drawing/2014/main" id="{D0DCE41C-9B1E-4C96-E538-8B6E2C03F867}"/>
              </a:ext>
            </a:extLst>
          </p:cNvPr>
          <p:cNvSpPr>
            <a:spLocks noGrp="1"/>
          </p:cNvSpPr>
          <p:nvPr>
            <p:ph idx="1"/>
          </p:nvPr>
        </p:nvSpPr>
        <p:spPr>
          <a:xfrm>
            <a:off x="838200" y="1338942"/>
            <a:ext cx="10515600" cy="5153931"/>
          </a:xfrm>
        </p:spPr>
        <p:txBody>
          <a:bodyPr>
            <a:normAutofit fontScale="92500" lnSpcReduction="20000"/>
          </a:bodyPr>
          <a:lstStyle/>
          <a:p>
            <a:pPr>
              <a:lnSpc>
                <a:spcPct val="110000"/>
              </a:lnSpc>
            </a:pPr>
            <a:r>
              <a:rPr lang="en-US" dirty="0"/>
              <a:t>A simple planning agent is very similar to problem-solving agents.</a:t>
            </a:r>
          </a:p>
          <a:p>
            <a:pPr>
              <a:lnSpc>
                <a:spcPct val="110000"/>
              </a:lnSpc>
            </a:pPr>
            <a:r>
              <a:rPr lang="en-US" dirty="0"/>
              <a:t>It constructs plans that achieve its goals, and then executes them.</a:t>
            </a:r>
          </a:p>
          <a:p>
            <a:pPr>
              <a:lnSpc>
                <a:spcPct val="110000"/>
              </a:lnSpc>
            </a:pPr>
            <a:r>
              <a:rPr lang="en-US" dirty="0"/>
              <a:t>The limitations of the problem- solving approach motivates the design of planning systems.</a:t>
            </a:r>
          </a:p>
          <a:p>
            <a:pPr>
              <a:lnSpc>
                <a:spcPct val="110000"/>
              </a:lnSpc>
            </a:pPr>
            <a:r>
              <a:rPr lang="en-US" dirty="0"/>
              <a:t>To solve a planning problem using a state-space search approach we would let the:</a:t>
            </a:r>
          </a:p>
          <a:p>
            <a:pPr>
              <a:lnSpc>
                <a:spcPct val="110000"/>
              </a:lnSpc>
            </a:pPr>
            <a:r>
              <a:rPr lang="en-US" dirty="0">
                <a:solidFill>
                  <a:srgbClr val="FF0000"/>
                </a:solidFill>
              </a:rPr>
              <a:t> initial state = initial situation</a:t>
            </a:r>
          </a:p>
          <a:p>
            <a:pPr>
              <a:lnSpc>
                <a:spcPct val="110000"/>
              </a:lnSpc>
            </a:pPr>
            <a:r>
              <a:rPr lang="en-US" dirty="0">
                <a:solidFill>
                  <a:srgbClr val="FF0000"/>
                </a:solidFill>
              </a:rPr>
              <a:t> goal-test predicate = goal state description</a:t>
            </a:r>
          </a:p>
          <a:p>
            <a:pPr>
              <a:lnSpc>
                <a:spcPct val="110000"/>
              </a:lnSpc>
            </a:pPr>
            <a:r>
              <a:rPr lang="en-US" dirty="0">
                <a:solidFill>
                  <a:srgbClr val="FF0000"/>
                </a:solidFill>
              </a:rPr>
              <a:t> successor function computed from the set of operators</a:t>
            </a:r>
          </a:p>
          <a:p>
            <a:pPr>
              <a:lnSpc>
                <a:spcPct val="110000"/>
              </a:lnSpc>
            </a:pPr>
            <a:r>
              <a:rPr lang="en-US" dirty="0"/>
              <a:t> Once a goal is found, solution plan is the sequence of operators in the path from the start node to the goal node</a:t>
            </a:r>
            <a:endParaRPr lang="en-IN" dirty="0"/>
          </a:p>
        </p:txBody>
      </p:sp>
    </p:spTree>
    <p:extLst>
      <p:ext uri="{BB962C8B-B14F-4D97-AF65-F5344CB8AC3E}">
        <p14:creationId xmlns:p14="http://schemas.microsoft.com/office/powerpoint/2010/main" val="290782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B04D-33ED-72D5-BE47-BA7B6628AE8B}"/>
              </a:ext>
            </a:extLst>
          </p:cNvPr>
          <p:cNvSpPr>
            <a:spLocks noGrp="1"/>
          </p:cNvSpPr>
          <p:nvPr>
            <p:ph type="title"/>
          </p:nvPr>
        </p:nvSpPr>
        <p:spPr/>
        <p:txBody>
          <a:bodyPr/>
          <a:lstStyle/>
          <a:p>
            <a:pPr algn="ctr"/>
            <a:r>
              <a:rPr lang="en-US" dirty="0"/>
              <a:t>Algorithm of a simple planning agent</a:t>
            </a:r>
            <a:endParaRPr lang="en-IN" dirty="0"/>
          </a:p>
        </p:txBody>
      </p:sp>
      <p:sp>
        <p:nvSpPr>
          <p:cNvPr id="3" name="Content Placeholder 2">
            <a:extLst>
              <a:ext uri="{FF2B5EF4-FFF2-40B4-BE49-F238E27FC236}">
                <a16:creationId xmlns:a16="http://schemas.microsoft.com/office/drawing/2014/main" id="{FCDB42B2-5F84-84C4-A347-C6BC988F0ACB}"/>
              </a:ext>
            </a:extLst>
          </p:cNvPr>
          <p:cNvSpPr>
            <a:spLocks noGrp="1"/>
          </p:cNvSpPr>
          <p:nvPr>
            <p:ph idx="1"/>
          </p:nvPr>
        </p:nvSpPr>
        <p:spPr/>
        <p:txBody>
          <a:bodyPr>
            <a:normAutofit/>
          </a:bodyPr>
          <a:lstStyle/>
          <a:p>
            <a:pPr marL="0" indent="0">
              <a:buNone/>
            </a:pPr>
            <a:r>
              <a:rPr lang="en-US" dirty="0"/>
              <a:t>1.Generate a goal to achieve</a:t>
            </a:r>
          </a:p>
          <a:p>
            <a:pPr marL="0" indent="0">
              <a:buNone/>
            </a:pPr>
            <a:r>
              <a:rPr lang="en-US" dirty="0"/>
              <a:t>2. Construct a plan to achieve goal from current state</a:t>
            </a:r>
          </a:p>
          <a:p>
            <a:pPr marL="0" indent="0">
              <a:buNone/>
            </a:pPr>
            <a:r>
              <a:rPr lang="en-US" dirty="0"/>
              <a:t>3. Execute plan until finished</a:t>
            </a:r>
          </a:p>
          <a:p>
            <a:pPr marL="0" indent="0">
              <a:buNone/>
            </a:pPr>
            <a:r>
              <a:rPr lang="en-US" dirty="0"/>
              <a:t>4. Begin again with new goal</a:t>
            </a:r>
          </a:p>
          <a:p>
            <a:r>
              <a:rPr lang="en-US" dirty="0"/>
              <a:t> The agent first generates a goal to achieve, and then constructs a plan to achieve it from the current state. </a:t>
            </a:r>
          </a:p>
          <a:p>
            <a:r>
              <a:rPr lang="en-US" dirty="0"/>
              <a:t>Once it has a plan, it keeps executing it until the plan is finished, then begins again with a new goal.</a:t>
            </a:r>
            <a:endParaRPr lang="en-IN" dirty="0"/>
          </a:p>
        </p:txBody>
      </p:sp>
    </p:spTree>
    <p:extLst>
      <p:ext uri="{BB962C8B-B14F-4D97-AF65-F5344CB8AC3E}">
        <p14:creationId xmlns:p14="http://schemas.microsoft.com/office/powerpoint/2010/main" val="3605207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2237-4D17-BA75-40BE-C21DAB41E95A}"/>
              </a:ext>
            </a:extLst>
          </p:cNvPr>
          <p:cNvSpPr>
            <a:spLocks noGrp="1"/>
          </p:cNvSpPr>
          <p:nvPr>
            <p:ph type="title"/>
          </p:nvPr>
        </p:nvSpPr>
        <p:spPr/>
        <p:txBody>
          <a:bodyPr/>
          <a:lstStyle/>
          <a:p>
            <a:pPr algn="ctr"/>
            <a:r>
              <a:rPr lang="en-IN" dirty="0"/>
              <a:t>Languages for Planning Problems</a:t>
            </a:r>
          </a:p>
        </p:txBody>
      </p:sp>
      <p:sp>
        <p:nvSpPr>
          <p:cNvPr id="3" name="Content Placeholder 2">
            <a:extLst>
              <a:ext uri="{FF2B5EF4-FFF2-40B4-BE49-F238E27FC236}">
                <a16:creationId xmlns:a16="http://schemas.microsoft.com/office/drawing/2014/main" id="{F9B116F9-AA61-F654-0648-1C265517782A}"/>
              </a:ext>
            </a:extLst>
          </p:cNvPr>
          <p:cNvSpPr>
            <a:spLocks noGrp="1"/>
          </p:cNvSpPr>
          <p:nvPr>
            <p:ph idx="1"/>
          </p:nvPr>
        </p:nvSpPr>
        <p:spPr/>
        <p:txBody>
          <a:bodyPr/>
          <a:lstStyle/>
          <a:p>
            <a:r>
              <a:rPr lang="en-US" dirty="0">
                <a:solidFill>
                  <a:srgbClr val="FF0000"/>
                </a:solidFill>
              </a:rPr>
              <a:t>STRIPS </a:t>
            </a:r>
          </a:p>
          <a:p>
            <a:pPr marL="0" indent="0">
              <a:buNone/>
            </a:pPr>
            <a:r>
              <a:rPr lang="en-US" dirty="0"/>
              <a:t>– Stanford Research Institute Problem Solver</a:t>
            </a:r>
          </a:p>
          <a:p>
            <a:pPr marL="0" indent="0">
              <a:buNone/>
            </a:pPr>
            <a:r>
              <a:rPr lang="en-US" dirty="0"/>
              <a:t>– Historically important</a:t>
            </a:r>
          </a:p>
          <a:p>
            <a:r>
              <a:rPr lang="en-US" dirty="0"/>
              <a:t> </a:t>
            </a:r>
            <a:r>
              <a:rPr lang="en-US" dirty="0">
                <a:solidFill>
                  <a:srgbClr val="FF0000"/>
                </a:solidFill>
              </a:rPr>
              <a:t>ADL</a:t>
            </a:r>
          </a:p>
          <a:p>
            <a:pPr marL="0" indent="0">
              <a:buNone/>
            </a:pPr>
            <a:r>
              <a:rPr lang="en-US" dirty="0"/>
              <a:t>– Action Description Languages</a:t>
            </a:r>
          </a:p>
          <a:p>
            <a:pPr marL="0" indent="0">
              <a:buNone/>
            </a:pPr>
            <a:r>
              <a:rPr lang="en-US" dirty="0"/>
              <a:t>• </a:t>
            </a:r>
            <a:r>
              <a:rPr lang="en-US" dirty="0">
                <a:solidFill>
                  <a:srgbClr val="FF0000"/>
                </a:solidFill>
              </a:rPr>
              <a:t>PDDL</a:t>
            </a:r>
          </a:p>
          <a:p>
            <a:pPr marL="0" indent="0">
              <a:buNone/>
            </a:pPr>
            <a:r>
              <a:rPr lang="en-US" dirty="0"/>
              <a:t>– Planning Domain Definition Language</a:t>
            </a:r>
            <a:endParaRPr lang="en-IN" dirty="0"/>
          </a:p>
        </p:txBody>
      </p:sp>
    </p:spTree>
    <p:extLst>
      <p:ext uri="{BB962C8B-B14F-4D97-AF65-F5344CB8AC3E}">
        <p14:creationId xmlns:p14="http://schemas.microsoft.com/office/powerpoint/2010/main" val="1530622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AE38-1201-1598-7F58-DB4E85BCB502}"/>
              </a:ext>
            </a:extLst>
          </p:cNvPr>
          <p:cNvSpPr>
            <a:spLocks noGrp="1"/>
          </p:cNvSpPr>
          <p:nvPr>
            <p:ph type="title"/>
          </p:nvPr>
        </p:nvSpPr>
        <p:spPr>
          <a:xfrm>
            <a:off x="838200" y="365126"/>
            <a:ext cx="10515600" cy="1006474"/>
          </a:xfrm>
        </p:spPr>
        <p:txBody>
          <a:bodyPr>
            <a:normAutofit fontScale="90000"/>
          </a:bodyPr>
          <a:lstStyle/>
          <a:p>
            <a:pPr algn="ctr"/>
            <a:r>
              <a:rPr lang="en-US" dirty="0"/>
              <a:t>Stanford Research Institute Problem Solver (</a:t>
            </a:r>
            <a:r>
              <a:rPr lang="en-IN" dirty="0"/>
              <a:t>STRIPS)</a:t>
            </a:r>
          </a:p>
        </p:txBody>
      </p:sp>
      <p:sp>
        <p:nvSpPr>
          <p:cNvPr id="3" name="Content Placeholder 2">
            <a:extLst>
              <a:ext uri="{FF2B5EF4-FFF2-40B4-BE49-F238E27FC236}">
                <a16:creationId xmlns:a16="http://schemas.microsoft.com/office/drawing/2014/main" id="{DFFE9C7C-EFF6-1B69-FA2A-68DDD6B7B914}"/>
              </a:ext>
            </a:extLst>
          </p:cNvPr>
          <p:cNvSpPr>
            <a:spLocks noGrp="1"/>
          </p:cNvSpPr>
          <p:nvPr>
            <p:ph idx="1"/>
          </p:nvPr>
        </p:nvSpPr>
        <p:spPr>
          <a:xfrm>
            <a:off x="838200" y="1491343"/>
            <a:ext cx="10515600" cy="5268686"/>
          </a:xfrm>
        </p:spPr>
        <p:txBody>
          <a:bodyPr>
            <a:normAutofit fontScale="92500" lnSpcReduction="20000"/>
          </a:bodyPr>
          <a:lstStyle/>
          <a:p>
            <a:r>
              <a:rPr lang="en-US" dirty="0"/>
              <a:t>The STRIPS algorithm operates by maintaining a database of predicates that describe the state of the world. </a:t>
            </a:r>
          </a:p>
          <a:p>
            <a:r>
              <a:rPr lang="en-US" dirty="0"/>
              <a:t>Each action available to the system is defined in terms of its preconditions and its effects (both add and delete). </a:t>
            </a:r>
          </a:p>
          <a:p>
            <a:r>
              <a:rPr lang="en-US" dirty="0"/>
              <a:t>The planning process in STRIPS involves searching through the space of possible actions to find a sequence that transitions the system from the initial state to the state where the goal predicates are satisfied.</a:t>
            </a:r>
          </a:p>
          <a:p>
            <a:pPr marL="0" indent="0">
              <a:buNone/>
            </a:pPr>
            <a:r>
              <a:rPr lang="en-US" dirty="0">
                <a:solidFill>
                  <a:srgbClr val="FF0000"/>
                </a:solidFill>
              </a:rPr>
              <a:t>Planning with STRIPS:</a:t>
            </a:r>
          </a:p>
          <a:p>
            <a:r>
              <a:rPr lang="en-US" dirty="0">
                <a:solidFill>
                  <a:schemeClr val="accent5"/>
                </a:solidFill>
              </a:rPr>
              <a:t>Define the Initial State: </a:t>
            </a:r>
            <a:r>
              <a:rPr lang="en-US" dirty="0"/>
              <a:t>Where the system starts.</a:t>
            </a:r>
          </a:p>
          <a:p>
            <a:r>
              <a:rPr lang="en-US" dirty="0">
                <a:solidFill>
                  <a:schemeClr val="accent5"/>
                </a:solidFill>
              </a:rPr>
              <a:t>Set the Goal State: </a:t>
            </a:r>
            <a:r>
              <a:rPr lang="en-US" dirty="0"/>
              <a:t>What the system should achieve.</a:t>
            </a:r>
          </a:p>
          <a:p>
            <a:r>
              <a:rPr lang="en-US" dirty="0">
                <a:solidFill>
                  <a:schemeClr val="accent5"/>
                </a:solidFill>
              </a:rPr>
              <a:t>Develop Actions: </a:t>
            </a:r>
            <a:r>
              <a:rPr lang="en-US" dirty="0"/>
              <a:t>Defined by their preconditions and effects.</a:t>
            </a:r>
          </a:p>
          <a:p>
            <a:r>
              <a:rPr lang="en-US" dirty="0">
                <a:solidFill>
                  <a:schemeClr val="accent5"/>
                </a:solidFill>
              </a:rPr>
              <a:t>Search for Solutions: </a:t>
            </a:r>
            <a:r>
              <a:rPr lang="en-US" dirty="0"/>
              <a:t>Using a strategy like backward chaining from the goal state to the initial state, identifying actions that satisfy the goal conditions.</a:t>
            </a:r>
            <a:endParaRPr lang="en-IN" dirty="0"/>
          </a:p>
        </p:txBody>
      </p:sp>
    </p:spTree>
    <p:extLst>
      <p:ext uri="{BB962C8B-B14F-4D97-AF65-F5344CB8AC3E}">
        <p14:creationId xmlns:p14="http://schemas.microsoft.com/office/powerpoint/2010/main" val="2864463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8E64-C30B-EE49-D30B-E15A55FCF402}"/>
              </a:ext>
            </a:extLst>
          </p:cNvPr>
          <p:cNvSpPr>
            <a:spLocks noGrp="1"/>
          </p:cNvSpPr>
          <p:nvPr>
            <p:ph type="title"/>
          </p:nvPr>
        </p:nvSpPr>
        <p:spPr/>
        <p:txBody>
          <a:bodyPr>
            <a:normAutofit fontScale="90000"/>
          </a:bodyPr>
          <a:lstStyle/>
          <a:p>
            <a:pPr algn="ctr"/>
            <a:br>
              <a:rPr lang="en-US" dirty="0"/>
            </a:br>
            <a:r>
              <a:rPr lang="en-US" dirty="0"/>
              <a:t>STRIPS</a:t>
            </a:r>
            <a:br>
              <a:rPr lang="en-US" dirty="0"/>
            </a:br>
            <a:endParaRPr lang="en-IN" dirty="0"/>
          </a:p>
        </p:txBody>
      </p:sp>
      <p:sp>
        <p:nvSpPr>
          <p:cNvPr id="3" name="Content Placeholder 2">
            <a:extLst>
              <a:ext uri="{FF2B5EF4-FFF2-40B4-BE49-F238E27FC236}">
                <a16:creationId xmlns:a16="http://schemas.microsoft.com/office/drawing/2014/main" id="{D0C0D4AB-134C-8AEB-ED77-EE5F4F92599E}"/>
              </a:ext>
            </a:extLst>
          </p:cNvPr>
          <p:cNvSpPr>
            <a:spLocks noGrp="1"/>
          </p:cNvSpPr>
          <p:nvPr>
            <p:ph idx="1"/>
          </p:nvPr>
        </p:nvSpPr>
        <p:spPr>
          <a:xfrm>
            <a:off x="402771" y="1825625"/>
            <a:ext cx="5529943" cy="4351338"/>
          </a:xfrm>
        </p:spPr>
        <p:txBody>
          <a:bodyPr/>
          <a:lstStyle/>
          <a:p>
            <a:r>
              <a:rPr lang="en-US" dirty="0"/>
              <a:t>Example of a robot: The example involves a robot, a cup tea, guest and two rooms. We want the robot to get the tea and give it to the guest.</a:t>
            </a:r>
          </a:p>
          <a:p>
            <a:pPr marL="0" indent="0">
              <a:buNone/>
            </a:pPr>
            <a:endParaRPr lang="en-IN" dirty="0"/>
          </a:p>
        </p:txBody>
      </p:sp>
      <p:pic>
        <p:nvPicPr>
          <p:cNvPr id="4" name="Content Placeholder 4">
            <a:extLst>
              <a:ext uri="{FF2B5EF4-FFF2-40B4-BE49-F238E27FC236}">
                <a16:creationId xmlns:a16="http://schemas.microsoft.com/office/drawing/2014/main" id="{FA8A1614-E983-130D-D41F-B7928881988E}"/>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17350" t="24689" r="11335"/>
          <a:stretch/>
        </p:blipFill>
        <p:spPr>
          <a:xfrm>
            <a:off x="6259288" y="1904999"/>
            <a:ext cx="5743825" cy="4049487"/>
          </a:xfrm>
          <a:prstGeom prst="rect">
            <a:avLst/>
          </a:prstGeom>
        </p:spPr>
      </p:pic>
    </p:spTree>
    <p:extLst>
      <p:ext uri="{BB962C8B-B14F-4D97-AF65-F5344CB8AC3E}">
        <p14:creationId xmlns:p14="http://schemas.microsoft.com/office/powerpoint/2010/main" val="4027412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0A12-167D-F003-0807-017DC2885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C7C4E-5A6F-91EB-47E1-947F5B1EFEF0}"/>
              </a:ext>
            </a:extLst>
          </p:cNvPr>
          <p:cNvSpPr>
            <a:spLocks noGrp="1"/>
          </p:cNvSpPr>
          <p:nvPr>
            <p:ph type="title"/>
          </p:nvPr>
        </p:nvSpPr>
        <p:spPr>
          <a:xfrm>
            <a:off x="838200" y="365126"/>
            <a:ext cx="10515600" cy="647246"/>
          </a:xfrm>
        </p:spPr>
        <p:txBody>
          <a:bodyPr>
            <a:normAutofit fontScale="90000"/>
          </a:bodyPr>
          <a:lstStyle/>
          <a:p>
            <a:pPr algn="ctr"/>
            <a:br>
              <a:rPr lang="en-US" dirty="0"/>
            </a:br>
            <a:r>
              <a:rPr lang="en-US" dirty="0"/>
              <a:t>STRIPS</a:t>
            </a:r>
            <a:br>
              <a:rPr lang="en-US" dirty="0"/>
            </a:br>
            <a:endParaRPr lang="en-IN" dirty="0"/>
          </a:p>
        </p:txBody>
      </p:sp>
      <p:sp>
        <p:nvSpPr>
          <p:cNvPr id="3" name="Content Placeholder 2">
            <a:extLst>
              <a:ext uri="{FF2B5EF4-FFF2-40B4-BE49-F238E27FC236}">
                <a16:creationId xmlns:a16="http://schemas.microsoft.com/office/drawing/2014/main" id="{72B76056-45F2-F411-2961-BDFFE98F370F}"/>
              </a:ext>
            </a:extLst>
          </p:cNvPr>
          <p:cNvSpPr>
            <a:spLocks noGrp="1"/>
          </p:cNvSpPr>
          <p:nvPr>
            <p:ph idx="1"/>
          </p:nvPr>
        </p:nvSpPr>
        <p:spPr>
          <a:xfrm>
            <a:off x="402771" y="1012372"/>
            <a:ext cx="6803572" cy="5704114"/>
          </a:xfrm>
        </p:spPr>
        <p:txBody>
          <a:bodyPr>
            <a:normAutofit fontScale="92500" lnSpcReduction="10000"/>
          </a:bodyPr>
          <a:lstStyle/>
          <a:p>
            <a:pPr marL="0" indent="0">
              <a:buNone/>
            </a:pPr>
            <a:r>
              <a:rPr lang="en-US" dirty="0">
                <a:solidFill>
                  <a:srgbClr val="FF0000"/>
                </a:solidFill>
              </a:rPr>
              <a:t>Move(robot, from, to)</a:t>
            </a:r>
          </a:p>
          <a:p>
            <a:pPr marL="0" indent="0">
              <a:buNone/>
            </a:pPr>
            <a:r>
              <a:rPr lang="en-US" dirty="0"/>
              <a:t>Preconditions: At(robot, from)</a:t>
            </a:r>
          </a:p>
          <a:p>
            <a:pPr marL="0" indent="0">
              <a:buNone/>
            </a:pPr>
            <a:r>
              <a:rPr lang="en-US" dirty="0"/>
              <a:t>Add Effects: At(robot, to)</a:t>
            </a:r>
          </a:p>
          <a:p>
            <a:pPr marL="0" indent="0">
              <a:buNone/>
            </a:pPr>
            <a:r>
              <a:rPr lang="en-US" dirty="0"/>
              <a:t>Delete Effects: At(robot, from)</a:t>
            </a:r>
          </a:p>
          <a:p>
            <a:pPr marL="0" indent="0">
              <a:buNone/>
            </a:pPr>
            <a:r>
              <a:rPr lang="en-US" dirty="0" err="1">
                <a:solidFill>
                  <a:srgbClr val="FF0000"/>
                </a:solidFill>
              </a:rPr>
              <a:t>PickUp</a:t>
            </a:r>
            <a:r>
              <a:rPr lang="en-US" dirty="0">
                <a:solidFill>
                  <a:srgbClr val="FF0000"/>
                </a:solidFill>
              </a:rPr>
              <a:t>(robot, tea, room)</a:t>
            </a:r>
          </a:p>
          <a:p>
            <a:pPr marL="0" indent="0">
              <a:buNone/>
            </a:pPr>
            <a:r>
              <a:rPr lang="en-US" dirty="0"/>
              <a:t>Preconditions: At(robot, room) ∧ At(tea, room)</a:t>
            </a:r>
          </a:p>
          <a:p>
            <a:pPr marL="0" indent="0">
              <a:buNone/>
            </a:pPr>
            <a:r>
              <a:rPr lang="en-US" dirty="0"/>
              <a:t>Add Effects: Has(robot, tea)</a:t>
            </a:r>
          </a:p>
          <a:p>
            <a:pPr marL="0" indent="0">
              <a:buNone/>
            </a:pPr>
            <a:r>
              <a:rPr lang="en-US" dirty="0"/>
              <a:t>Delete Effects: At(tea, room)</a:t>
            </a:r>
          </a:p>
          <a:p>
            <a:pPr marL="0" indent="0">
              <a:buNone/>
            </a:pPr>
            <a:r>
              <a:rPr lang="en-US" dirty="0">
                <a:solidFill>
                  <a:srgbClr val="FF0000"/>
                </a:solidFill>
              </a:rPr>
              <a:t>Give(robot, tea, guest, room)</a:t>
            </a:r>
          </a:p>
          <a:p>
            <a:pPr marL="0" indent="0">
              <a:buNone/>
            </a:pPr>
            <a:r>
              <a:rPr lang="en-US" dirty="0"/>
              <a:t>Preconditions: At(robot, room) ∧ At(guest, room) ∧ Has(robot, tea)</a:t>
            </a:r>
          </a:p>
          <a:p>
            <a:pPr marL="0" indent="0">
              <a:buNone/>
            </a:pPr>
            <a:r>
              <a:rPr lang="en-US" dirty="0"/>
              <a:t>Add Effects: Given(tea, guest)</a:t>
            </a:r>
          </a:p>
          <a:p>
            <a:pPr marL="0" indent="0">
              <a:buNone/>
            </a:pPr>
            <a:r>
              <a:rPr lang="en-US" dirty="0"/>
              <a:t>Delete Effects: Has(robot, tea)</a:t>
            </a:r>
            <a:endParaRPr lang="en-IN" dirty="0"/>
          </a:p>
        </p:txBody>
      </p:sp>
      <p:pic>
        <p:nvPicPr>
          <p:cNvPr id="4" name="Content Placeholder 4">
            <a:extLst>
              <a:ext uri="{FF2B5EF4-FFF2-40B4-BE49-F238E27FC236}">
                <a16:creationId xmlns:a16="http://schemas.microsoft.com/office/drawing/2014/main" id="{02AD00E6-4D48-AFF9-5FD3-65DFDD225B88}"/>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17350" t="24689" r="11335"/>
          <a:stretch/>
        </p:blipFill>
        <p:spPr>
          <a:xfrm>
            <a:off x="7206343" y="376012"/>
            <a:ext cx="4720570" cy="3341915"/>
          </a:xfrm>
          <a:prstGeom prst="rect">
            <a:avLst/>
          </a:prstGeom>
        </p:spPr>
      </p:pic>
      <p:sp>
        <p:nvSpPr>
          <p:cNvPr id="12" name="TextBox 11">
            <a:extLst>
              <a:ext uri="{FF2B5EF4-FFF2-40B4-BE49-F238E27FC236}">
                <a16:creationId xmlns:a16="http://schemas.microsoft.com/office/drawing/2014/main" id="{3A57DDAD-1930-2142-7581-51AC6BCA1959}"/>
              </a:ext>
            </a:extLst>
          </p:cNvPr>
          <p:cNvSpPr txBox="1"/>
          <p:nvPr/>
        </p:nvSpPr>
        <p:spPr>
          <a:xfrm>
            <a:off x="6923315" y="4570875"/>
            <a:ext cx="4865914" cy="1200329"/>
          </a:xfrm>
          <a:prstGeom prst="rect">
            <a:avLst/>
          </a:prstGeom>
          <a:noFill/>
        </p:spPr>
        <p:txBody>
          <a:bodyPr wrap="square">
            <a:spAutoFit/>
          </a:bodyPr>
          <a:lstStyle/>
          <a:p>
            <a:pPr marL="342900" indent="-342900">
              <a:buAutoNum type="arabicParenR"/>
            </a:pPr>
            <a:r>
              <a:rPr lang="en-US" sz="2400" dirty="0" err="1"/>
              <a:t>PickUp</a:t>
            </a:r>
            <a:r>
              <a:rPr lang="en-US" sz="2400" dirty="0"/>
              <a:t>(robot, tea, room1)</a:t>
            </a:r>
          </a:p>
          <a:p>
            <a:pPr marL="342900" indent="-342900">
              <a:buAutoNum type="arabicParenR"/>
            </a:pPr>
            <a:r>
              <a:rPr lang="en-US" sz="2400" dirty="0"/>
              <a:t>Move(robot, room1, room2)</a:t>
            </a:r>
          </a:p>
          <a:p>
            <a:pPr marL="342900" indent="-342900">
              <a:buAutoNum type="arabicParenR"/>
            </a:pPr>
            <a:r>
              <a:rPr lang="en-US" sz="2400" dirty="0"/>
              <a:t>Give(robot, tea, guest, room2)</a:t>
            </a:r>
            <a:endParaRPr lang="en-IN" dirty="0"/>
          </a:p>
        </p:txBody>
      </p:sp>
    </p:spTree>
    <p:extLst>
      <p:ext uri="{BB962C8B-B14F-4D97-AF65-F5344CB8AC3E}">
        <p14:creationId xmlns:p14="http://schemas.microsoft.com/office/powerpoint/2010/main" val="1829454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RIPS planner">
            <a:extLst>
              <a:ext uri="{FF2B5EF4-FFF2-40B4-BE49-F238E27FC236}">
                <a16:creationId xmlns:a16="http://schemas.microsoft.com/office/drawing/2014/main" id="{B16FE113-0E03-35BC-CE60-A8417F84F2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0971" y="81325"/>
            <a:ext cx="10548257" cy="419882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D3224BA-19F0-C5BB-A2CB-5C2D5650BEFF}"/>
              </a:ext>
            </a:extLst>
          </p:cNvPr>
          <p:cNvSpPr txBox="1"/>
          <p:nvPr/>
        </p:nvSpPr>
        <p:spPr>
          <a:xfrm>
            <a:off x="957943" y="4331065"/>
            <a:ext cx="10439400" cy="2246769"/>
          </a:xfrm>
          <a:prstGeom prst="rect">
            <a:avLst/>
          </a:prstGeom>
          <a:noFill/>
        </p:spPr>
        <p:txBody>
          <a:bodyPr wrap="square">
            <a:spAutoFit/>
          </a:bodyPr>
          <a:lstStyle/>
          <a:p>
            <a:r>
              <a:rPr lang="en-US" sz="2800" dirty="0">
                <a:solidFill>
                  <a:srgbClr val="FF0000"/>
                </a:solidFill>
              </a:rPr>
              <a:t>STRIPS has some limitations. </a:t>
            </a:r>
          </a:p>
          <a:p>
            <a:pPr marL="457200" indent="-457200">
              <a:buFont typeface="Arial" panose="020B0604020202020204" pitchFamily="34" charset="0"/>
              <a:buChar char="•"/>
            </a:pPr>
            <a:r>
              <a:rPr lang="en-US" sz="2800" dirty="0"/>
              <a:t>One is that it can only deal with a limited number of actions and goals. </a:t>
            </a:r>
          </a:p>
          <a:p>
            <a:pPr marL="457200" indent="-457200">
              <a:buFont typeface="Arial" panose="020B0604020202020204" pitchFamily="34" charset="0"/>
              <a:buChar char="•"/>
            </a:pPr>
            <a:r>
              <a:rPr lang="en-US" sz="2800" dirty="0"/>
              <a:t>Another is that it can only find plans that are guaranteed to work; it cannot find plans that are likely to work but might fail.</a:t>
            </a:r>
            <a:endParaRPr lang="en-IN" sz="2800" dirty="0"/>
          </a:p>
        </p:txBody>
      </p:sp>
    </p:spTree>
    <p:extLst>
      <p:ext uri="{BB962C8B-B14F-4D97-AF65-F5344CB8AC3E}">
        <p14:creationId xmlns:p14="http://schemas.microsoft.com/office/powerpoint/2010/main" val="2651699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1402-9F98-43DC-F06E-595379FDB2FE}"/>
              </a:ext>
            </a:extLst>
          </p:cNvPr>
          <p:cNvSpPr>
            <a:spLocks noGrp="1"/>
          </p:cNvSpPr>
          <p:nvPr>
            <p:ph type="title"/>
          </p:nvPr>
        </p:nvSpPr>
        <p:spPr>
          <a:xfrm>
            <a:off x="838200" y="365126"/>
            <a:ext cx="10515600" cy="886732"/>
          </a:xfrm>
        </p:spPr>
        <p:txBody>
          <a:bodyPr/>
          <a:lstStyle/>
          <a:p>
            <a:pPr algn="ctr"/>
            <a:r>
              <a:rPr lang="en-IN" dirty="0"/>
              <a:t>Action Description Language (ADL)</a:t>
            </a:r>
          </a:p>
        </p:txBody>
      </p:sp>
      <p:sp>
        <p:nvSpPr>
          <p:cNvPr id="3" name="Content Placeholder 2">
            <a:extLst>
              <a:ext uri="{FF2B5EF4-FFF2-40B4-BE49-F238E27FC236}">
                <a16:creationId xmlns:a16="http://schemas.microsoft.com/office/drawing/2014/main" id="{53614C3B-3734-A47F-9A7B-67A7CA49614B}"/>
              </a:ext>
            </a:extLst>
          </p:cNvPr>
          <p:cNvSpPr>
            <a:spLocks noGrp="1"/>
          </p:cNvSpPr>
          <p:nvPr>
            <p:ph idx="1"/>
          </p:nvPr>
        </p:nvSpPr>
        <p:spPr>
          <a:xfrm>
            <a:off x="838200" y="1404256"/>
            <a:ext cx="10515600" cy="5088617"/>
          </a:xfrm>
        </p:spPr>
        <p:txBody>
          <a:bodyPr>
            <a:normAutofit fontScale="92500" lnSpcReduction="10000"/>
          </a:bodyPr>
          <a:lstStyle/>
          <a:p>
            <a:r>
              <a:rPr lang="en-US" dirty="0"/>
              <a:t>It is a formal language used to represent actions in AI planning systems. </a:t>
            </a:r>
          </a:p>
          <a:p>
            <a:r>
              <a:rPr lang="en-US" dirty="0"/>
              <a:t>ADL is used to describe the preconditions, effects, and dependencies of actions for automated planning. </a:t>
            </a:r>
          </a:p>
          <a:p>
            <a:r>
              <a:rPr lang="en-US" dirty="0"/>
              <a:t>It was developed as an advancement over the STRIPS planning system. </a:t>
            </a:r>
          </a:p>
          <a:p>
            <a:pPr marL="0" indent="0">
              <a:buNone/>
            </a:pPr>
            <a:r>
              <a:rPr lang="en-US" dirty="0">
                <a:solidFill>
                  <a:srgbClr val="FF0000"/>
                </a:solidFill>
              </a:rPr>
              <a:t>The properties of ADL are as follows:</a:t>
            </a:r>
          </a:p>
          <a:p>
            <a:pPr marL="0" indent="0">
              <a:buNone/>
            </a:pPr>
            <a:r>
              <a:rPr lang="en-US" dirty="0"/>
              <a:t>1. It allows negative literals.</a:t>
            </a:r>
          </a:p>
          <a:p>
            <a:pPr marL="0" indent="0">
              <a:buNone/>
            </a:pPr>
            <a:r>
              <a:rPr lang="en-US" dirty="0"/>
              <a:t>2. It makes use of quantified variables along with the disjunctions and the conjunctions.</a:t>
            </a:r>
          </a:p>
          <a:p>
            <a:pPr marL="0" indent="0">
              <a:buNone/>
            </a:pPr>
            <a:r>
              <a:rPr lang="en-US" dirty="0"/>
              <a:t>3. Conditional post-conditions are allowed.</a:t>
            </a:r>
          </a:p>
          <a:p>
            <a:pPr marL="0" indent="0">
              <a:buNone/>
            </a:pPr>
            <a:r>
              <a:rPr lang="en-US" dirty="0"/>
              <a:t>4. Variables with different types at the same time are allowed and also equality property is available.</a:t>
            </a:r>
            <a:endParaRPr lang="en-IN" dirty="0"/>
          </a:p>
        </p:txBody>
      </p:sp>
    </p:spTree>
    <p:extLst>
      <p:ext uri="{BB962C8B-B14F-4D97-AF65-F5344CB8AC3E}">
        <p14:creationId xmlns:p14="http://schemas.microsoft.com/office/powerpoint/2010/main" val="3762235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4FCE9-B6F9-5AAB-EFF6-38BAC14EE8F3}"/>
              </a:ext>
            </a:extLst>
          </p:cNvPr>
          <p:cNvSpPr>
            <a:spLocks noGrp="1"/>
          </p:cNvSpPr>
          <p:nvPr>
            <p:ph type="title"/>
          </p:nvPr>
        </p:nvSpPr>
        <p:spPr/>
        <p:txBody>
          <a:bodyPr/>
          <a:lstStyle/>
          <a:p>
            <a:pPr algn="ctr"/>
            <a:r>
              <a:rPr lang="en-US" dirty="0"/>
              <a:t>Planning Domain Description Language (PDDL)</a:t>
            </a:r>
            <a:endParaRPr lang="en-IN" dirty="0"/>
          </a:p>
        </p:txBody>
      </p:sp>
      <p:sp>
        <p:nvSpPr>
          <p:cNvPr id="3" name="Content Placeholder 2">
            <a:extLst>
              <a:ext uri="{FF2B5EF4-FFF2-40B4-BE49-F238E27FC236}">
                <a16:creationId xmlns:a16="http://schemas.microsoft.com/office/drawing/2014/main" id="{723A95DB-82A0-F19F-E34B-B42591A9BFAD}"/>
              </a:ext>
            </a:extLst>
          </p:cNvPr>
          <p:cNvSpPr>
            <a:spLocks noGrp="1"/>
          </p:cNvSpPr>
          <p:nvPr>
            <p:ph idx="1"/>
          </p:nvPr>
        </p:nvSpPr>
        <p:spPr/>
        <p:txBody>
          <a:bodyPr/>
          <a:lstStyle/>
          <a:p>
            <a:r>
              <a:rPr lang="en-US" dirty="0"/>
              <a:t>The Planning Domain Definition Language (PDDL) is a standardized version of ADL. </a:t>
            </a:r>
          </a:p>
          <a:p>
            <a:r>
              <a:rPr lang="en-US" dirty="0"/>
              <a:t>It is a superset of STRIPS and ADL that allows features like</a:t>
            </a:r>
          </a:p>
          <a:p>
            <a:pPr marL="0" indent="0">
              <a:buNone/>
            </a:pPr>
            <a:r>
              <a:rPr lang="en-US" dirty="0"/>
              <a:t>1. Objects can have type specifications. </a:t>
            </a:r>
          </a:p>
          <a:p>
            <a:pPr marL="0" indent="0">
              <a:buNone/>
            </a:pPr>
            <a:r>
              <a:rPr lang="en-US" dirty="0"/>
              <a:t>2. It can have negative pre-conditions.</a:t>
            </a:r>
          </a:p>
          <a:p>
            <a:pPr marL="0" indent="0">
              <a:buNone/>
            </a:pPr>
            <a:r>
              <a:rPr lang="en-US" dirty="0"/>
              <a:t>3. The add and delete lists can be conditional.</a:t>
            </a:r>
          </a:p>
          <a:p>
            <a:pPr marL="0" indent="0">
              <a:buNone/>
            </a:pPr>
            <a:r>
              <a:rPr lang="en-US" dirty="0"/>
              <a:t>4. In some cases, it also allows numeric values.</a:t>
            </a:r>
            <a:endParaRPr lang="en-IN" dirty="0"/>
          </a:p>
        </p:txBody>
      </p:sp>
    </p:spTree>
    <p:extLst>
      <p:ext uri="{BB962C8B-B14F-4D97-AF65-F5344CB8AC3E}">
        <p14:creationId xmlns:p14="http://schemas.microsoft.com/office/powerpoint/2010/main" val="1238259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B089-CCB6-AC36-E123-EB463635E804}"/>
              </a:ext>
            </a:extLst>
          </p:cNvPr>
          <p:cNvSpPr>
            <a:spLocks noGrp="1"/>
          </p:cNvSpPr>
          <p:nvPr>
            <p:ph type="title"/>
          </p:nvPr>
        </p:nvSpPr>
        <p:spPr>
          <a:xfrm>
            <a:off x="838200" y="365126"/>
            <a:ext cx="10515600" cy="875846"/>
          </a:xfrm>
        </p:spPr>
        <p:txBody>
          <a:bodyPr/>
          <a:lstStyle/>
          <a:p>
            <a:pPr algn="ctr"/>
            <a:r>
              <a:rPr lang="en-IN" dirty="0"/>
              <a:t>Means - Ends Analysis</a:t>
            </a:r>
          </a:p>
        </p:txBody>
      </p:sp>
      <p:sp>
        <p:nvSpPr>
          <p:cNvPr id="3" name="Content Placeholder 2">
            <a:extLst>
              <a:ext uri="{FF2B5EF4-FFF2-40B4-BE49-F238E27FC236}">
                <a16:creationId xmlns:a16="http://schemas.microsoft.com/office/drawing/2014/main" id="{87EDA327-1BAD-A447-640C-E7BB98B5910B}"/>
              </a:ext>
            </a:extLst>
          </p:cNvPr>
          <p:cNvSpPr>
            <a:spLocks noGrp="1"/>
          </p:cNvSpPr>
          <p:nvPr>
            <p:ph idx="1"/>
          </p:nvPr>
        </p:nvSpPr>
        <p:spPr>
          <a:xfrm>
            <a:off x="522514" y="1390260"/>
            <a:ext cx="11146971" cy="5304453"/>
          </a:xfrm>
        </p:spPr>
        <p:txBody>
          <a:bodyPr>
            <a:normAutofit lnSpcReduction="10000"/>
          </a:bodyPr>
          <a:lstStyle/>
          <a:p>
            <a:r>
              <a:rPr lang="en-US" dirty="0"/>
              <a:t>Means-Ends Analysis is problem-solving techniques used in Artificial intelligence for limiting search in AI programs.</a:t>
            </a:r>
          </a:p>
          <a:p>
            <a:pPr marL="0" indent="0">
              <a:buNone/>
            </a:pPr>
            <a:r>
              <a:rPr lang="en-US" dirty="0"/>
              <a:t>• It is a mixture of Backward and forward search technique.</a:t>
            </a:r>
          </a:p>
          <a:p>
            <a:pPr marL="0" indent="0">
              <a:buNone/>
            </a:pPr>
            <a:r>
              <a:rPr lang="en-US" dirty="0"/>
              <a:t>• The means -ends analysis process centers around finding the difference between current state and goal state.</a:t>
            </a:r>
            <a:endParaRPr lang="en-IN" dirty="0"/>
          </a:p>
          <a:p>
            <a:r>
              <a:rPr lang="en-US" dirty="0"/>
              <a:t>Search strategies are either reason forward of backward.</a:t>
            </a:r>
          </a:p>
          <a:p>
            <a:pPr marL="0" indent="0">
              <a:buNone/>
            </a:pPr>
            <a:r>
              <a:rPr lang="en-US" dirty="0">
                <a:solidFill>
                  <a:srgbClr val="FF0000"/>
                </a:solidFill>
              </a:rPr>
              <a:t>Steps</a:t>
            </a:r>
          </a:p>
          <a:p>
            <a:pPr marL="0" indent="0">
              <a:buNone/>
            </a:pPr>
            <a:r>
              <a:rPr lang="en-US" dirty="0"/>
              <a:t>1. First, evaluate the difference between Initial State and final State.</a:t>
            </a:r>
          </a:p>
          <a:p>
            <a:pPr marL="0" indent="0">
              <a:buNone/>
            </a:pPr>
            <a:r>
              <a:rPr lang="en-US" dirty="0"/>
              <a:t>2. Select the various operators which can be applied for each difference.</a:t>
            </a:r>
          </a:p>
          <a:p>
            <a:pPr marL="0" indent="0">
              <a:buNone/>
            </a:pPr>
            <a:r>
              <a:rPr lang="en-US" dirty="0"/>
              <a:t>3. Apply the operator at each difference, which reduces the difference between the current state and goal state.</a:t>
            </a:r>
            <a:endParaRPr lang="en-IN"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1985156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B46AD-A718-CC35-EBE5-2D0CCC6C2412}"/>
              </a:ext>
            </a:extLst>
          </p:cNvPr>
          <p:cNvSpPr>
            <a:spLocks noGrp="1"/>
          </p:cNvSpPr>
          <p:nvPr>
            <p:ph type="title"/>
          </p:nvPr>
        </p:nvSpPr>
        <p:spPr>
          <a:xfrm>
            <a:off x="838200" y="365126"/>
            <a:ext cx="10515600" cy="651912"/>
          </a:xfrm>
        </p:spPr>
        <p:txBody>
          <a:bodyPr>
            <a:normAutofit fontScale="90000"/>
          </a:bodyPr>
          <a:lstStyle/>
          <a:p>
            <a:pPr algn="ctr"/>
            <a:r>
              <a:rPr lang="en-IN" dirty="0"/>
              <a:t>MEA Algorithm</a:t>
            </a:r>
          </a:p>
        </p:txBody>
      </p:sp>
      <p:sp>
        <p:nvSpPr>
          <p:cNvPr id="3" name="Content Placeholder 2">
            <a:extLst>
              <a:ext uri="{FF2B5EF4-FFF2-40B4-BE49-F238E27FC236}">
                <a16:creationId xmlns:a16="http://schemas.microsoft.com/office/drawing/2014/main" id="{BCACE81E-ABC5-B2C1-69B1-540071659956}"/>
              </a:ext>
            </a:extLst>
          </p:cNvPr>
          <p:cNvSpPr>
            <a:spLocks noGrp="1"/>
          </p:cNvSpPr>
          <p:nvPr>
            <p:ph idx="1"/>
          </p:nvPr>
        </p:nvSpPr>
        <p:spPr>
          <a:xfrm>
            <a:off x="838200" y="1250302"/>
            <a:ext cx="10515600" cy="4926661"/>
          </a:xfrm>
        </p:spPr>
        <p:txBody>
          <a:bodyPr>
            <a:normAutofit fontScale="77500" lnSpcReduction="20000"/>
          </a:bodyPr>
          <a:lstStyle/>
          <a:p>
            <a:pPr marL="0" indent="0">
              <a:buNone/>
            </a:pPr>
            <a:r>
              <a:rPr lang="en-US" dirty="0"/>
              <a:t>Step 1: Compare CURRENT to GOAL, if there are no differences between both then return Success and Exit.</a:t>
            </a:r>
          </a:p>
          <a:p>
            <a:pPr marL="0" indent="0">
              <a:buNone/>
            </a:pPr>
            <a:r>
              <a:rPr lang="en-US" dirty="0"/>
              <a:t>• Step 2: Else, select the most significant difference and reduce it by doing the following steps until the success or failure occurs.</a:t>
            </a:r>
          </a:p>
          <a:p>
            <a:r>
              <a:rPr lang="en-US" dirty="0"/>
              <a:t>A) Select a new operator O which is applicable for the current difference, and if there is no such operator, then signal failure.</a:t>
            </a:r>
          </a:p>
          <a:p>
            <a:r>
              <a:rPr lang="en-US" dirty="0"/>
              <a:t>B) Attempt to apply operator O to CURRENT. Make a description of two  states.</a:t>
            </a:r>
          </a:p>
          <a:p>
            <a:pPr marL="0" indent="0">
              <a:buNone/>
            </a:pPr>
            <a:r>
              <a:rPr lang="en-US" dirty="0"/>
              <a:t>       </a:t>
            </a:r>
            <a:r>
              <a:rPr lang="en-US" dirty="0" err="1"/>
              <a:t>i</a:t>
            </a:r>
            <a:r>
              <a:rPr lang="en-US" dirty="0"/>
              <a:t>) O-Start, a state in which O?s preconditions are satisfied.</a:t>
            </a:r>
          </a:p>
          <a:p>
            <a:pPr marL="457200" lvl="1" indent="0">
              <a:buNone/>
            </a:pPr>
            <a:r>
              <a:rPr lang="en-US" dirty="0"/>
              <a:t>ii) O-Result, the state that would result if O were applied In O-start.</a:t>
            </a:r>
          </a:p>
          <a:p>
            <a:r>
              <a:rPr lang="en-US" dirty="0"/>
              <a:t>C) If</a:t>
            </a:r>
          </a:p>
          <a:p>
            <a:pPr marL="0" indent="0">
              <a:buNone/>
            </a:pPr>
            <a:r>
              <a:rPr lang="en-US" dirty="0"/>
              <a:t>	(First-Part &lt;------ MEA (CURRENT, O-START)</a:t>
            </a:r>
          </a:p>
          <a:p>
            <a:pPr marL="0" indent="0">
              <a:buNone/>
            </a:pPr>
            <a:r>
              <a:rPr lang="en-US" dirty="0"/>
              <a:t>	And</a:t>
            </a:r>
          </a:p>
          <a:p>
            <a:pPr marL="0" indent="0">
              <a:buNone/>
            </a:pPr>
            <a:r>
              <a:rPr lang="en-US" dirty="0"/>
              <a:t>	(LAST-Part &lt;----- MEA (O-Result, GOAL), are successful, then signal</a:t>
            </a:r>
          </a:p>
          <a:p>
            <a:pPr marL="0" indent="0">
              <a:buNone/>
            </a:pPr>
            <a:r>
              <a:rPr lang="en-US" dirty="0"/>
              <a:t>	Success and return the result of combining FIRST-PART, O, and LASTPART.</a:t>
            </a:r>
          </a:p>
        </p:txBody>
      </p:sp>
    </p:spTree>
    <p:extLst>
      <p:ext uri="{BB962C8B-B14F-4D97-AF65-F5344CB8AC3E}">
        <p14:creationId xmlns:p14="http://schemas.microsoft.com/office/powerpoint/2010/main" val="228454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B2039-79CA-379E-9CC4-759A475437D3}"/>
              </a:ext>
            </a:extLst>
          </p:cNvPr>
          <p:cNvSpPr>
            <a:spLocks noGrp="1"/>
          </p:cNvSpPr>
          <p:nvPr>
            <p:ph type="title"/>
          </p:nvPr>
        </p:nvSpPr>
        <p:spPr>
          <a:xfrm>
            <a:off x="838200" y="365125"/>
            <a:ext cx="10515600" cy="819863"/>
          </a:xfrm>
        </p:spPr>
        <p:txBody>
          <a:bodyPr/>
          <a:lstStyle/>
          <a:p>
            <a:pPr algn="ctr"/>
            <a:r>
              <a:rPr lang="en-IN" dirty="0"/>
              <a:t>Example of Mean-Ends Analysis:</a:t>
            </a:r>
          </a:p>
        </p:txBody>
      </p:sp>
      <p:pic>
        <p:nvPicPr>
          <p:cNvPr id="5" name="Content Placeholder 4">
            <a:extLst>
              <a:ext uri="{FF2B5EF4-FFF2-40B4-BE49-F238E27FC236}">
                <a16:creationId xmlns:a16="http://schemas.microsoft.com/office/drawing/2014/main" id="{56A68A91-953B-917F-A7F6-6FCD0A8C75C2}"/>
              </a:ext>
            </a:extLst>
          </p:cNvPr>
          <p:cNvPicPr>
            <a:picLocks noGrp="1" noChangeAspect="1"/>
          </p:cNvPicPr>
          <p:nvPr>
            <p:ph idx="1"/>
          </p:nvPr>
        </p:nvPicPr>
        <p:blipFill>
          <a:blip r:embed="rId2"/>
          <a:stretch>
            <a:fillRect/>
          </a:stretch>
        </p:blipFill>
        <p:spPr>
          <a:xfrm>
            <a:off x="1457157" y="1408185"/>
            <a:ext cx="8674894" cy="4404786"/>
          </a:xfrm>
        </p:spPr>
      </p:pic>
    </p:spTree>
    <p:extLst>
      <p:ext uri="{BB962C8B-B14F-4D97-AF65-F5344CB8AC3E}">
        <p14:creationId xmlns:p14="http://schemas.microsoft.com/office/powerpoint/2010/main" val="1738880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954C-EEBD-475D-6573-53E3DCFBF83D}"/>
              </a:ext>
            </a:extLst>
          </p:cNvPr>
          <p:cNvSpPr>
            <a:spLocks noGrp="1"/>
          </p:cNvSpPr>
          <p:nvPr>
            <p:ph type="title"/>
          </p:nvPr>
        </p:nvSpPr>
        <p:spPr>
          <a:xfrm>
            <a:off x="838200" y="365125"/>
            <a:ext cx="10515600" cy="735887"/>
          </a:xfrm>
        </p:spPr>
        <p:txBody>
          <a:bodyPr/>
          <a:lstStyle/>
          <a:p>
            <a:pPr algn="ctr"/>
            <a:r>
              <a:rPr lang="en-IN" dirty="0"/>
              <a:t>Example of Mean-Ends Analysis:</a:t>
            </a:r>
          </a:p>
        </p:txBody>
      </p:sp>
      <p:pic>
        <p:nvPicPr>
          <p:cNvPr id="4" name="Picture 3">
            <a:extLst>
              <a:ext uri="{FF2B5EF4-FFF2-40B4-BE49-F238E27FC236}">
                <a16:creationId xmlns:a16="http://schemas.microsoft.com/office/drawing/2014/main" id="{19B4D919-0B89-9C29-7EEE-4616149FD265}"/>
              </a:ext>
            </a:extLst>
          </p:cNvPr>
          <p:cNvPicPr>
            <a:picLocks noChangeAspect="1"/>
          </p:cNvPicPr>
          <p:nvPr/>
        </p:nvPicPr>
        <p:blipFill>
          <a:blip r:embed="rId2"/>
          <a:stretch>
            <a:fillRect/>
          </a:stretch>
        </p:blipFill>
        <p:spPr>
          <a:xfrm>
            <a:off x="588839" y="1528706"/>
            <a:ext cx="4067742" cy="2372849"/>
          </a:xfrm>
          <a:prstGeom prst="rect">
            <a:avLst/>
          </a:prstGeom>
        </p:spPr>
      </p:pic>
      <p:pic>
        <p:nvPicPr>
          <p:cNvPr id="7" name="Picture 6">
            <a:extLst>
              <a:ext uri="{FF2B5EF4-FFF2-40B4-BE49-F238E27FC236}">
                <a16:creationId xmlns:a16="http://schemas.microsoft.com/office/drawing/2014/main" id="{5507B7A1-DAAC-1993-2D28-4B13DAC8F56F}"/>
              </a:ext>
            </a:extLst>
          </p:cNvPr>
          <p:cNvPicPr>
            <a:picLocks noChangeAspect="1"/>
          </p:cNvPicPr>
          <p:nvPr/>
        </p:nvPicPr>
        <p:blipFill>
          <a:blip r:embed="rId3"/>
          <a:stretch>
            <a:fillRect/>
          </a:stretch>
        </p:blipFill>
        <p:spPr>
          <a:xfrm>
            <a:off x="560274" y="3821824"/>
            <a:ext cx="4345668" cy="2803656"/>
          </a:xfrm>
          <a:prstGeom prst="rect">
            <a:avLst/>
          </a:prstGeom>
        </p:spPr>
      </p:pic>
      <p:pic>
        <p:nvPicPr>
          <p:cNvPr id="9" name="Picture 8">
            <a:extLst>
              <a:ext uri="{FF2B5EF4-FFF2-40B4-BE49-F238E27FC236}">
                <a16:creationId xmlns:a16="http://schemas.microsoft.com/office/drawing/2014/main" id="{D3BB2C59-52E2-0811-EE69-16211C8F8FED}"/>
              </a:ext>
            </a:extLst>
          </p:cNvPr>
          <p:cNvPicPr>
            <a:picLocks noChangeAspect="1"/>
          </p:cNvPicPr>
          <p:nvPr/>
        </p:nvPicPr>
        <p:blipFill>
          <a:blip r:embed="rId4"/>
          <a:stretch>
            <a:fillRect/>
          </a:stretch>
        </p:blipFill>
        <p:spPr>
          <a:xfrm>
            <a:off x="5953879" y="1657103"/>
            <a:ext cx="5152587" cy="2244452"/>
          </a:xfrm>
          <a:prstGeom prst="rect">
            <a:avLst/>
          </a:prstGeom>
        </p:spPr>
      </p:pic>
      <p:pic>
        <p:nvPicPr>
          <p:cNvPr id="11" name="Picture 10">
            <a:extLst>
              <a:ext uri="{FF2B5EF4-FFF2-40B4-BE49-F238E27FC236}">
                <a16:creationId xmlns:a16="http://schemas.microsoft.com/office/drawing/2014/main" id="{BDBF9206-6498-8DD4-9322-3C2B3794C03F}"/>
              </a:ext>
            </a:extLst>
          </p:cNvPr>
          <p:cNvPicPr>
            <a:picLocks noChangeAspect="1"/>
          </p:cNvPicPr>
          <p:nvPr/>
        </p:nvPicPr>
        <p:blipFill>
          <a:blip r:embed="rId5"/>
          <a:stretch>
            <a:fillRect/>
          </a:stretch>
        </p:blipFill>
        <p:spPr>
          <a:xfrm>
            <a:off x="5768346" y="4223657"/>
            <a:ext cx="5457863" cy="2144486"/>
          </a:xfrm>
          <a:prstGeom prst="rect">
            <a:avLst/>
          </a:prstGeom>
        </p:spPr>
      </p:pic>
    </p:spTree>
    <p:extLst>
      <p:ext uri="{BB962C8B-B14F-4D97-AF65-F5344CB8AC3E}">
        <p14:creationId xmlns:p14="http://schemas.microsoft.com/office/powerpoint/2010/main" val="112132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BDC0B-5DD8-3EEE-32D2-391C3957A8FF}"/>
              </a:ext>
            </a:extLst>
          </p:cNvPr>
          <p:cNvSpPr>
            <a:spLocks noGrp="1"/>
          </p:cNvSpPr>
          <p:nvPr>
            <p:ph type="title"/>
          </p:nvPr>
        </p:nvSpPr>
        <p:spPr>
          <a:xfrm>
            <a:off x="838200" y="365126"/>
            <a:ext cx="10515600" cy="875846"/>
          </a:xfrm>
        </p:spPr>
        <p:txBody>
          <a:bodyPr/>
          <a:lstStyle/>
          <a:p>
            <a:pPr algn="ctr"/>
            <a:r>
              <a:rPr lang="en-IN" dirty="0"/>
              <a:t>Linear Planning - Block World</a:t>
            </a:r>
          </a:p>
        </p:txBody>
      </p:sp>
      <p:sp>
        <p:nvSpPr>
          <p:cNvPr id="3" name="Content Placeholder 2">
            <a:extLst>
              <a:ext uri="{FF2B5EF4-FFF2-40B4-BE49-F238E27FC236}">
                <a16:creationId xmlns:a16="http://schemas.microsoft.com/office/drawing/2014/main" id="{2FEBBC10-60BA-F022-CB3B-90214805A2D9}"/>
              </a:ext>
            </a:extLst>
          </p:cNvPr>
          <p:cNvSpPr>
            <a:spLocks noGrp="1"/>
          </p:cNvSpPr>
          <p:nvPr>
            <p:ph idx="1"/>
          </p:nvPr>
        </p:nvSpPr>
        <p:spPr>
          <a:xfrm>
            <a:off x="838200" y="1752600"/>
            <a:ext cx="10515600" cy="4424363"/>
          </a:xfrm>
        </p:spPr>
        <p:txBody>
          <a:bodyPr>
            <a:normAutofit/>
          </a:bodyPr>
          <a:lstStyle/>
          <a:p>
            <a:r>
              <a:rPr lang="en-US" dirty="0"/>
              <a:t>There are ‘N’ number of Blocks resting on table with specified sequence.</a:t>
            </a:r>
          </a:p>
          <a:p>
            <a:pPr marL="0" indent="0">
              <a:buNone/>
            </a:pPr>
            <a:r>
              <a:rPr lang="en-US" dirty="0"/>
              <a:t>• Goal is to arrange in desired sequence.</a:t>
            </a:r>
          </a:p>
          <a:p>
            <a:pPr marL="0" indent="0">
              <a:buNone/>
            </a:pPr>
            <a:r>
              <a:rPr lang="en-US" dirty="0"/>
              <a:t>• Available moves</a:t>
            </a:r>
          </a:p>
          <a:p>
            <a:pPr marL="0" indent="0">
              <a:buNone/>
            </a:pPr>
            <a:r>
              <a:rPr lang="en-US" dirty="0"/>
              <a:t>– Put block on table</a:t>
            </a:r>
          </a:p>
          <a:p>
            <a:pPr marL="0" indent="0">
              <a:buNone/>
            </a:pPr>
            <a:r>
              <a:rPr lang="en-US" dirty="0"/>
              <a:t>– Put a block on another block top</a:t>
            </a:r>
          </a:p>
          <a:p>
            <a:pPr marL="0" indent="0">
              <a:buNone/>
            </a:pPr>
            <a:r>
              <a:rPr lang="en-US" dirty="0"/>
              <a:t>• State is represented using sequence of blocks in current pos.</a:t>
            </a:r>
          </a:p>
        </p:txBody>
      </p:sp>
    </p:spTree>
    <p:extLst>
      <p:ext uri="{BB962C8B-B14F-4D97-AF65-F5344CB8AC3E}">
        <p14:creationId xmlns:p14="http://schemas.microsoft.com/office/powerpoint/2010/main" val="2454466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73A8E4B2-D779-40EA-AD25-91AB76D2667A}"/>
              </a:ext>
            </a:extLst>
          </p:cNvPr>
          <p:cNvPicPr>
            <a:picLocks noChangeAspect="1"/>
          </p:cNvPicPr>
          <p:nvPr/>
        </p:nvPicPr>
        <p:blipFill>
          <a:blip r:embed="rId2"/>
          <a:stretch>
            <a:fillRect/>
          </a:stretch>
        </p:blipFill>
        <p:spPr>
          <a:xfrm>
            <a:off x="240095" y="1888964"/>
            <a:ext cx="5464019" cy="4135427"/>
          </a:xfrm>
          <a:prstGeom prst="rect">
            <a:avLst/>
          </a:prstGeom>
        </p:spPr>
      </p:pic>
      <p:pic>
        <p:nvPicPr>
          <p:cNvPr id="5" name="Content Placeholder 4">
            <a:extLst>
              <a:ext uri="{FF2B5EF4-FFF2-40B4-BE49-F238E27FC236}">
                <a16:creationId xmlns:a16="http://schemas.microsoft.com/office/drawing/2014/main" id="{3DC5DB0E-9577-BFFA-5E7F-0CFA4C1C3F33}"/>
              </a:ext>
            </a:extLst>
          </p:cNvPr>
          <p:cNvPicPr>
            <a:picLocks noGrp="1" noChangeAspect="1"/>
          </p:cNvPicPr>
          <p:nvPr>
            <p:ph idx="1"/>
          </p:nvPr>
        </p:nvPicPr>
        <p:blipFill>
          <a:blip r:embed="rId3"/>
          <a:stretch>
            <a:fillRect/>
          </a:stretch>
        </p:blipFill>
        <p:spPr>
          <a:xfrm>
            <a:off x="5704114" y="1690688"/>
            <a:ext cx="6349409" cy="4620291"/>
          </a:xfrm>
        </p:spPr>
      </p:pic>
      <p:sp>
        <p:nvSpPr>
          <p:cNvPr id="8" name="Title 1">
            <a:extLst>
              <a:ext uri="{FF2B5EF4-FFF2-40B4-BE49-F238E27FC236}">
                <a16:creationId xmlns:a16="http://schemas.microsoft.com/office/drawing/2014/main" id="{588C840C-A574-D391-21B1-37FCCA240955}"/>
              </a:ext>
            </a:extLst>
          </p:cNvPr>
          <p:cNvSpPr txBox="1">
            <a:spLocks/>
          </p:cNvSpPr>
          <p:nvPr/>
        </p:nvSpPr>
        <p:spPr>
          <a:xfrm>
            <a:off x="838200" y="365126"/>
            <a:ext cx="10515600" cy="8758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a:t>Linear Planning - Block World</a:t>
            </a:r>
            <a:endParaRPr lang="en-IN" dirty="0"/>
          </a:p>
        </p:txBody>
      </p:sp>
    </p:spTree>
    <p:extLst>
      <p:ext uri="{BB962C8B-B14F-4D97-AF65-F5344CB8AC3E}">
        <p14:creationId xmlns:p14="http://schemas.microsoft.com/office/powerpoint/2010/main" val="1083934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2ACB13E-01E1-9356-6EDB-E87DE1FA1459}"/>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055" t="14083" r="2474" b="13000"/>
          <a:stretch/>
        </p:blipFill>
        <p:spPr bwMode="auto">
          <a:xfrm>
            <a:off x="1774370" y="1256560"/>
            <a:ext cx="7924801" cy="317287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F1A600-F2B8-3E25-5B9C-1C87FC34914B}"/>
              </a:ext>
            </a:extLst>
          </p:cNvPr>
          <p:cNvSpPr txBox="1"/>
          <p:nvPr/>
        </p:nvSpPr>
        <p:spPr>
          <a:xfrm>
            <a:off x="838200" y="4553883"/>
            <a:ext cx="10276114" cy="1938992"/>
          </a:xfrm>
          <a:prstGeom prst="rect">
            <a:avLst/>
          </a:prstGeom>
          <a:noFill/>
        </p:spPr>
        <p:txBody>
          <a:bodyPr wrap="square">
            <a:spAutoFit/>
          </a:bodyPr>
          <a:lstStyle/>
          <a:p>
            <a:pPr algn="l"/>
            <a:r>
              <a:rPr lang="en-US" sz="2400" b="0" i="0" dirty="0">
                <a:solidFill>
                  <a:srgbClr val="242424"/>
                </a:solidFill>
                <a:effectLst/>
                <a:highlight>
                  <a:srgbClr val="FFFFFF"/>
                </a:highlight>
                <a:latin typeface="source-serif-pro"/>
              </a:rPr>
              <a:t>The Robot Arm can perform 4 operations:</a:t>
            </a:r>
          </a:p>
          <a:p>
            <a:pPr algn="l">
              <a:buFont typeface="+mj-lt"/>
              <a:buAutoNum type="arabicPeriod"/>
            </a:pPr>
            <a:r>
              <a:rPr lang="en-US" sz="2400" b="0" i="0" dirty="0">
                <a:solidFill>
                  <a:srgbClr val="242424"/>
                </a:solidFill>
                <a:effectLst/>
                <a:highlight>
                  <a:srgbClr val="FFFFFF"/>
                </a:highlight>
                <a:latin typeface="source-serif-pro"/>
              </a:rPr>
              <a:t>STACK(X,Y) : Stacking Block X on Block Y</a:t>
            </a:r>
          </a:p>
          <a:p>
            <a:pPr algn="l">
              <a:buFont typeface="+mj-lt"/>
              <a:buAutoNum type="arabicPeriod"/>
            </a:pPr>
            <a:r>
              <a:rPr lang="en-US" sz="2400" b="0" i="0" dirty="0">
                <a:solidFill>
                  <a:srgbClr val="242424"/>
                </a:solidFill>
                <a:effectLst/>
                <a:highlight>
                  <a:srgbClr val="FFFFFF"/>
                </a:highlight>
                <a:latin typeface="source-serif-pro"/>
              </a:rPr>
              <a:t>UNSTACK(X,Y) : Picking up Block X which is on top of Block Y</a:t>
            </a:r>
          </a:p>
          <a:p>
            <a:pPr algn="l">
              <a:buFont typeface="+mj-lt"/>
              <a:buAutoNum type="arabicPeriod"/>
            </a:pPr>
            <a:r>
              <a:rPr lang="en-US" sz="2400" b="0" i="0" dirty="0">
                <a:solidFill>
                  <a:srgbClr val="242424"/>
                </a:solidFill>
                <a:effectLst/>
                <a:highlight>
                  <a:srgbClr val="FFFFFF"/>
                </a:highlight>
                <a:latin typeface="source-serif-pro"/>
              </a:rPr>
              <a:t>PICKUP(X) : Picking up Block X which is on top of the table</a:t>
            </a:r>
          </a:p>
          <a:p>
            <a:pPr algn="l">
              <a:buFont typeface="+mj-lt"/>
              <a:buAutoNum type="arabicPeriod"/>
            </a:pPr>
            <a:r>
              <a:rPr lang="en-US" sz="2400" b="0" i="0" dirty="0">
                <a:solidFill>
                  <a:srgbClr val="242424"/>
                </a:solidFill>
                <a:effectLst/>
                <a:highlight>
                  <a:srgbClr val="FFFFFF"/>
                </a:highlight>
                <a:latin typeface="source-serif-pro"/>
              </a:rPr>
              <a:t>PUTDOWN(X) : Put Block X on the table</a:t>
            </a:r>
          </a:p>
        </p:txBody>
      </p:sp>
      <p:sp>
        <p:nvSpPr>
          <p:cNvPr id="4" name="Title 1">
            <a:extLst>
              <a:ext uri="{FF2B5EF4-FFF2-40B4-BE49-F238E27FC236}">
                <a16:creationId xmlns:a16="http://schemas.microsoft.com/office/drawing/2014/main" id="{9E8AF7BB-A467-88DE-189A-80C8F3D6DFD2}"/>
              </a:ext>
            </a:extLst>
          </p:cNvPr>
          <p:cNvSpPr>
            <a:spLocks noGrp="1"/>
          </p:cNvSpPr>
          <p:nvPr>
            <p:ph type="title"/>
          </p:nvPr>
        </p:nvSpPr>
        <p:spPr>
          <a:xfrm>
            <a:off x="838200" y="365126"/>
            <a:ext cx="10515600" cy="875846"/>
          </a:xfrm>
        </p:spPr>
        <p:txBody>
          <a:bodyPr/>
          <a:lstStyle/>
          <a:p>
            <a:pPr algn="ctr"/>
            <a:r>
              <a:rPr lang="en-IN" dirty="0"/>
              <a:t>Linear Planning - Block World</a:t>
            </a:r>
          </a:p>
        </p:txBody>
      </p:sp>
    </p:spTree>
    <p:extLst>
      <p:ext uri="{BB962C8B-B14F-4D97-AF65-F5344CB8AC3E}">
        <p14:creationId xmlns:p14="http://schemas.microsoft.com/office/powerpoint/2010/main" val="4202671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different colored squares&#10;&#10;AI-generated content may be incorrect.">
            <a:extLst>
              <a:ext uri="{FF2B5EF4-FFF2-40B4-BE49-F238E27FC236}">
                <a16:creationId xmlns:a16="http://schemas.microsoft.com/office/drawing/2014/main" id="{82C16700-58CB-002E-68EB-C087A37912E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775" r="12086"/>
          <a:stretch/>
        </p:blipFill>
        <p:spPr>
          <a:xfrm>
            <a:off x="304800" y="161301"/>
            <a:ext cx="11070771" cy="6535398"/>
          </a:xfrm>
        </p:spPr>
      </p:pic>
      <p:sp>
        <p:nvSpPr>
          <p:cNvPr id="2" name="Title 1">
            <a:extLst>
              <a:ext uri="{FF2B5EF4-FFF2-40B4-BE49-F238E27FC236}">
                <a16:creationId xmlns:a16="http://schemas.microsoft.com/office/drawing/2014/main" id="{C9502DFD-CDA2-1998-A7A0-02B1AB30CB6F}"/>
              </a:ext>
            </a:extLst>
          </p:cNvPr>
          <p:cNvSpPr>
            <a:spLocks noGrp="1"/>
          </p:cNvSpPr>
          <p:nvPr>
            <p:ph type="title"/>
          </p:nvPr>
        </p:nvSpPr>
        <p:spPr>
          <a:xfrm>
            <a:off x="838200" y="365126"/>
            <a:ext cx="10515600" cy="875846"/>
          </a:xfrm>
        </p:spPr>
        <p:txBody>
          <a:bodyPr/>
          <a:lstStyle/>
          <a:p>
            <a:pPr algn="ctr"/>
            <a:r>
              <a:rPr lang="en-IN" dirty="0"/>
              <a:t>Linear Planning - Block World</a:t>
            </a:r>
          </a:p>
        </p:txBody>
      </p:sp>
    </p:spTree>
    <p:extLst>
      <p:ext uri="{BB962C8B-B14F-4D97-AF65-F5344CB8AC3E}">
        <p14:creationId xmlns:p14="http://schemas.microsoft.com/office/powerpoint/2010/main" val="2457113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graph&#10;&#10;AI-generated content may be incorrect.">
            <a:extLst>
              <a:ext uri="{FF2B5EF4-FFF2-40B4-BE49-F238E27FC236}">
                <a16:creationId xmlns:a16="http://schemas.microsoft.com/office/drawing/2014/main" id="{BC002059-EAE9-B3F5-1BF2-54C78485D6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93F05E-703A-DC49-13F6-18B8B76C6582}"/>
              </a:ext>
            </a:extLst>
          </p:cNvPr>
          <p:cNvSpPr>
            <a:spLocks noGrp="1"/>
          </p:cNvSpPr>
          <p:nvPr>
            <p:ph type="title"/>
          </p:nvPr>
        </p:nvSpPr>
        <p:spPr>
          <a:xfrm>
            <a:off x="838200" y="365126"/>
            <a:ext cx="10515600" cy="875846"/>
          </a:xfrm>
        </p:spPr>
        <p:txBody>
          <a:bodyPr/>
          <a:lstStyle/>
          <a:p>
            <a:pPr algn="ctr"/>
            <a:r>
              <a:rPr lang="en-IN" dirty="0"/>
              <a:t>Linear Planning - Block World</a:t>
            </a:r>
          </a:p>
        </p:txBody>
      </p:sp>
    </p:spTree>
    <p:extLst>
      <p:ext uri="{BB962C8B-B14F-4D97-AF65-F5344CB8AC3E}">
        <p14:creationId xmlns:p14="http://schemas.microsoft.com/office/powerpoint/2010/main" val="4122034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8035-850F-070F-C092-5350DD7D228D}"/>
              </a:ext>
            </a:extLst>
          </p:cNvPr>
          <p:cNvSpPr>
            <a:spLocks noGrp="1"/>
          </p:cNvSpPr>
          <p:nvPr>
            <p:ph type="title"/>
          </p:nvPr>
        </p:nvSpPr>
        <p:spPr>
          <a:xfrm>
            <a:off x="838200" y="195944"/>
            <a:ext cx="10515600" cy="1311275"/>
          </a:xfrm>
        </p:spPr>
        <p:txBody>
          <a:bodyPr>
            <a:normAutofit/>
          </a:bodyPr>
          <a:lstStyle/>
          <a:p>
            <a:pPr algn="ctr"/>
            <a:r>
              <a:rPr lang="en-IN" sz="4400" dirty="0"/>
              <a:t>Non-linear planning</a:t>
            </a:r>
            <a:endParaRPr lang="en-IN" dirty="0"/>
          </a:p>
        </p:txBody>
      </p:sp>
      <p:sp>
        <p:nvSpPr>
          <p:cNvPr id="4" name="Content Placeholder 2">
            <a:extLst>
              <a:ext uri="{FF2B5EF4-FFF2-40B4-BE49-F238E27FC236}">
                <a16:creationId xmlns:a16="http://schemas.microsoft.com/office/drawing/2014/main" id="{6D6FA3B4-6F98-3622-1DD3-2D15C60F568B}"/>
              </a:ext>
            </a:extLst>
          </p:cNvPr>
          <p:cNvSpPr>
            <a:spLocks noGrp="1"/>
          </p:cNvSpPr>
          <p:nvPr>
            <p:ph idx="1"/>
          </p:nvPr>
        </p:nvSpPr>
        <p:spPr>
          <a:xfrm>
            <a:off x="816429" y="1611085"/>
            <a:ext cx="10428514" cy="5050971"/>
          </a:xfrm>
        </p:spPr>
        <p:txBody>
          <a:bodyPr>
            <a:normAutofit/>
          </a:bodyPr>
          <a:lstStyle/>
          <a:p>
            <a:pPr algn="just"/>
            <a:r>
              <a:rPr lang="en-US" dirty="0"/>
              <a:t>A plan that consists of sub-problems, which are solved simultaneously is said non-linear plan.</a:t>
            </a:r>
          </a:p>
          <a:p>
            <a:pPr algn="just"/>
            <a:r>
              <a:rPr lang="en-US" dirty="0"/>
              <a:t>There is a concept of constraint posting that comes with non-linear planning. The constraint posting states that the plan can be built by</a:t>
            </a:r>
          </a:p>
          <a:p>
            <a:pPr marL="0" indent="0" algn="just">
              <a:buNone/>
            </a:pPr>
            <a:r>
              <a:rPr lang="en-US" dirty="0"/>
              <a:t>1. Addition of operators or suggesting operators</a:t>
            </a:r>
          </a:p>
          <a:p>
            <a:pPr marL="0" indent="0" algn="just">
              <a:buNone/>
            </a:pPr>
            <a:r>
              <a:rPr lang="en-US" dirty="0"/>
              <a:t>2. Ordering them</a:t>
            </a:r>
          </a:p>
          <a:p>
            <a:pPr marL="0" indent="0" algn="just">
              <a:buNone/>
            </a:pPr>
            <a:r>
              <a:rPr lang="en-US" dirty="0"/>
              <a:t>3. Binding the variables to the operators</a:t>
            </a:r>
          </a:p>
          <a:p>
            <a:pPr marL="0" indent="0">
              <a:buNone/>
            </a:pPr>
            <a:endParaRPr lang="en-IN" sz="2200" dirty="0"/>
          </a:p>
        </p:txBody>
      </p:sp>
    </p:spTree>
    <p:extLst>
      <p:ext uri="{BB962C8B-B14F-4D97-AF65-F5344CB8AC3E}">
        <p14:creationId xmlns:p14="http://schemas.microsoft.com/office/powerpoint/2010/main" val="3759950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50AEB9C7-837B-168E-A3BC-B76CE80D83C0}"/>
              </a:ext>
            </a:extLst>
          </p:cNvPr>
          <p:cNvPicPr>
            <a:picLocks noGrp="1" noChangeAspect="1"/>
          </p:cNvPicPr>
          <p:nvPr>
            <p:ph idx="1"/>
          </p:nvPr>
        </p:nvPicPr>
        <p:blipFill>
          <a:blip r:embed="rId2"/>
          <a:stretch>
            <a:fillRect/>
          </a:stretch>
        </p:blipFill>
        <p:spPr>
          <a:xfrm>
            <a:off x="643882" y="1894114"/>
            <a:ext cx="5658946" cy="3505199"/>
          </a:xfrm>
          <a:prstGeom prst="rect">
            <a:avLst/>
          </a:prstGeom>
        </p:spPr>
      </p:pic>
      <p:pic>
        <p:nvPicPr>
          <p:cNvPr id="1026" name="Picture 2" descr="Generated image">
            <a:extLst>
              <a:ext uri="{FF2B5EF4-FFF2-40B4-BE49-F238E27FC236}">
                <a16:creationId xmlns:a16="http://schemas.microsoft.com/office/drawing/2014/main" id="{19169D9F-4AE6-222F-5937-74B3A29DD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8514" y="1132114"/>
            <a:ext cx="4572000" cy="55625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4E60BF6A-1535-91C5-C24A-131FCCDAA2CF}"/>
              </a:ext>
            </a:extLst>
          </p:cNvPr>
          <p:cNvSpPr>
            <a:spLocks noGrp="1"/>
          </p:cNvSpPr>
          <p:nvPr>
            <p:ph type="title"/>
          </p:nvPr>
        </p:nvSpPr>
        <p:spPr>
          <a:xfrm>
            <a:off x="838200" y="365125"/>
            <a:ext cx="10515600" cy="766989"/>
          </a:xfrm>
        </p:spPr>
        <p:txBody>
          <a:bodyPr>
            <a:normAutofit/>
          </a:bodyPr>
          <a:lstStyle/>
          <a:p>
            <a:pPr algn="ctr"/>
            <a:r>
              <a:rPr lang="en-IN" sz="4400" dirty="0"/>
              <a:t>Non-linear planning</a:t>
            </a:r>
            <a:endParaRPr lang="en-IN" dirty="0"/>
          </a:p>
        </p:txBody>
      </p:sp>
    </p:spTree>
    <p:extLst>
      <p:ext uri="{BB962C8B-B14F-4D97-AF65-F5344CB8AC3E}">
        <p14:creationId xmlns:p14="http://schemas.microsoft.com/office/powerpoint/2010/main" val="760373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A3B98-82A6-0113-2D7B-2B973CA5F08E}"/>
              </a:ext>
            </a:extLst>
          </p:cNvPr>
          <p:cNvSpPr>
            <a:spLocks noGrp="1"/>
          </p:cNvSpPr>
          <p:nvPr>
            <p:ph type="title"/>
          </p:nvPr>
        </p:nvSpPr>
        <p:spPr>
          <a:xfrm>
            <a:off x="838200" y="365125"/>
            <a:ext cx="10515600" cy="698565"/>
          </a:xfrm>
        </p:spPr>
        <p:txBody>
          <a:bodyPr>
            <a:normAutofit fontScale="90000"/>
          </a:bodyPr>
          <a:lstStyle/>
          <a:p>
            <a:pPr algn="ctr"/>
            <a:r>
              <a:rPr lang="en-IN" dirty="0"/>
              <a:t>Conditional Planning</a:t>
            </a:r>
          </a:p>
        </p:txBody>
      </p:sp>
      <p:sp>
        <p:nvSpPr>
          <p:cNvPr id="3" name="Content Placeholder 2">
            <a:extLst>
              <a:ext uri="{FF2B5EF4-FFF2-40B4-BE49-F238E27FC236}">
                <a16:creationId xmlns:a16="http://schemas.microsoft.com/office/drawing/2014/main" id="{B4C10A0A-89AA-EF3D-5DCD-FEBB138A056E}"/>
              </a:ext>
            </a:extLst>
          </p:cNvPr>
          <p:cNvSpPr>
            <a:spLocks noGrp="1"/>
          </p:cNvSpPr>
          <p:nvPr>
            <p:ph idx="1"/>
          </p:nvPr>
        </p:nvSpPr>
        <p:spPr>
          <a:xfrm>
            <a:off x="457199" y="1259633"/>
            <a:ext cx="11168743" cy="5467738"/>
          </a:xfrm>
        </p:spPr>
        <p:txBody>
          <a:bodyPr>
            <a:normAutofit fontScale="85000" lnSpcReduction="20000"/>
          </a:bodyPr>
          <a:lstStyle/>
          <a:p>
            <a:r>
              <a:rPr lang="en-US" dirty="0"/>
              <a:t>Conditional planning has to work regardless of the outcome of an action.</a:t>
            </a:r>
          </a:p>
          <a:p>
            <a:pPr marL="0" indent="0">
              <a:buNone/>
            </a:pPr>
            <a:r>
              <a:rPr lang="en-US" dirty="0"/>
              <a:t>• The outcome of actions cannot be determined so the environment is said to be nondeterministic.</a:t>
            </a:r>
          </a:p>
          <a:p>
            <a:pPr marL="0" indent="0">
              <a:buNone/>
            </a:pPr>
            <a:r>
              <a:rPr lang="en-US" dirty="0"/>
              <a:t>• It’s a way to deal with uncertainty by checking what is actually  happening in the environment at predetermined points in the plan. (Conditional Steps)</a:t>
            </a:r>
          </a:p>
          <a:p>
            <a:pPr marL="0" indent="0">
              <a:buNone/>
            </a:pPr>
            <a:r>
              <a:rPr lang="en-US" dirty="0">
                <a:solidFill>
                  <a:srgbClr val="C00000"/>
                </a:solidFill>
              </a:rPr>
              <a:t>Example:</a:t>
            </a:r>
          </a:p>
          <a:p>
            <a:pPr marL="0" indent="0">
              <a:buNone/>
            </a:pPr>
            <a:r>
              <a:rPr lang="en-US" dirty="0"/>
              <a:t>A robot needs to deliver a package, but it doesn't know if the door to the delivery room is open or closed.</a:t>
            </a:r>
          </a:p>
          <a:p>
            <a:pPr>
              <a:buNone/>
            </a:pPr>
            <a:r>
              <a:rPr lang="en-US" b="1" dirty="0"/>
              <a:t>Plan:</a:t>
            </a:r>
            <a:endParaRPr lang="en-US" dirty="0"/>
          </a:p>
          <a:p>
            <a:pPr>
              <a:buFont typeface="Arial" panose="020B0604020202020204" pitchFamily="34" charset="0"/>
              <a:buChar char="•"/>
            </a:pPr>
            <a:r>
              <a:rPr lang="en-US" b="1" dirty="0"/>
              <a:t>Move to the door</a:t>
            </a:r>
            <a:endParaRPr lang="en-US" dirty="0"/>
          </a:p>
          <a:p>
            <a:pPr>
              <a:buFont typeface="Arial" panose="020B0604020202020204" pitchFamily="34" charset="0"/>
              <a:buChar char="•"/>
            </a:pPr>
            <a:r>
              <a:rPr lang="en-US" b="1" dirty="0"/>
              <a:t>Sense</a:t>
            </a:r>
            <a:r>
              <a:rPr lang="en-US" dirty="0"/>
              <a:t> whether the door is open or closed</a:t>
            </a:r>
          </a:p>
          <a:p>
            <a:pPr>
              <a:buFont typeface="Arial" panose="020B0604020202020204" pitchFamily="34" charset="0"/>
              <a:buChar char="•"/>
            </a:pPr>
            <a:r>
              <a:rPr lang="en-US" b="1" dirty="0"/>
              <a:t>If door is open</a:t>
            </a:r>
            <a:r>
              <a:rPr lang="en-US" dirty="0"/>
              <a:t> → </a:t>
            </a:r>
            <a:r>
              <a:rPr lang="en-US" b="1" dirty="0"/>
              <a:t>Enter the room and deliver the package</a:t>
            </a:r>
            <a:endParaRPr lang="en-US" dirty="0"/>
          </a:p>
          <a:p>
            <a:pPr>
              <a:buFont typeface="Arial" panose="020B0604020202020204" pitchFamily="34" charset="0"/>
              <a:buChar char="•"/>
            </a:pPr>
            <a:r>
              <a:rPr lang="en-US" b="1" dirty="0"/>
              <a:t>If door is closed</a:t>
            </a:r>
            <a:r>
              <a:rPr lang="en-US" dirty="0"/>
              <a:t> → </a:t>
            </a:r>
            <a:r>
              <a:rPr lang="en-US" b="1" dirty="0"/>
              <a:t>Press the doorbell and wait</a:t>
            </a:r>
            <a:endParaRPr lang="en-US" dirty="0"/>
          </a:p>
          <a:p>
            <a:pPr marL="742950" lvl="1" indent="-285750">
              <a:buFont typeface="Arial" panose="020B0604020202020204" pitchFamily="34" charset="0"/>
              <a:buChar char="•"/>
            </a:pPr>
            <a:r>
              <a:rPr lang="en-US" b="1" dirty="0"/>
              <a:t>When door opens</a:t>
            </a:r>
            <a:r>
              <a:rPr lang="en-US" dirty="0"/>
              <a:t> → </a:t>
            </a:r>
            <a:r>
              <a:rPr lang="en-US" b="1" dirty="0"/>
              <a:t>Enter and deliver the package</a:t>
            </a:r>
          </a:p>
          <a:p>
            <a:pPr marL="742950" lvl="1" indent="-285750">
              <a:buFont typeface="Arial" panose="020B0604020202020204" pitchFamily="34" charset="0"/>
              <a:buChar char="•"/>
            </a:pPr>
            <a:r>
              <a:rPr lang="en-US" b="1" dirty="0"/>
              <a:t>If still closed →→ Leave a delivery note→ Return to base or retry later</a:t>
            </a:r>
          </a:p>
          <a:p>
            <a:pPr marL="0" indent="0">
              <a:buNone/>
            </a:pPr>
            <a:endParaRPr lang="en-US" dirty="0">
              <a:solidFill>
                <a:srgbClr val="C00000"/>
              </a:solidFill>
            </a:endParaRPr>
          </a:p>
          <a:p>
            <a:pPr marL="0" indent="0">
              <a:buNone/>
            </a:pPr>
            <a:endParaRPr lang="en-US" dirty="0">
              <a:solidFill>
                <a:srgbClr val="C00000"/>
              </a:solidFill>
            </a:endParaRPr>
          </a:p>
        </p:txBody>
      </p:sp>
    </p:spTree>
    <p:extLst>
      <p:ext uri="{BB962C8B-B14F-4D97-AF65-F5344CB8AC3E}">
        <p14:creationId xmlns:p14="http://schemas.microsoft.com/office/powerpoint/2010/main" val="3742476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765B3-5D75-63A6-C09E-E1FD66F43783}"/>
              </a:ext>
            </a:extLst>
          </p:cNvPr>
          <p:cNvSpPr>
            <a:spLocks noGrp="1"/>
          </p:cNvSpPr>
          <p:nvPr>
            <p:ph type="title"/>
          </p:nvPr>
        </p:nvSpPr>
        <p:spPr>
          <a:xfrm>
            <a:off x="838200" y="108856"/>
            <a:ext cx="10515600" cy="766988"/>
          </a:xfrm>
        </p:spPr>
        <p:txBody>
          <a:bodyPr/>
          <a:lstStyle/>
          <a:p>
            <a:pPr algn="ctr"/>
            <a:r>
              <a:rPr lang="en-IN" dirty="0"/>
              <a:t>Reactive Planning</a:t>
            </a:r>
          </a:p>
        </p:txBody>
      </p:sp>
      <p:sp>
        <p:nvSpPr>
          <p:cNvPr id="3" name="Content Placeholder 2">
            <a:extLst>
              <a:ext uri="{FF2B5EF4-FFF2-40B4-BE49-F238E27FC236}">
                <a16:creationId xmlns:a16="http://schemas.microsoft.com/office/drawing/2014/main" id="{515A55E4-F8B5-BB49-65C4-F24845DE4678}"/>
              </a:ext>
            </a:extLst>
          </p:cNvPr>
          <p:cNvSpPr>
            <a:spLocks noGrp="1"/>
          </p:cNvSpPr>
          <p:nvPr>
            <p:ph idx="1"/>
          </p:nvPr>
        </p:nvSpPr>
        <p:spPr>
          <a:xfrm>
            <a:off x="402771" y="957944"/>
            <a:ext cx="11255829" cy="5791200"/>
          </a:xfrm>
        </p:spPr>
        <p:txBody>
          <a:bodyPr>
            <a:normAutofit fontScale="85000" lnSpcReduction="20000"/>
          </a:bodyPr>
          <a:lstStyle/>
          <a:p>
            <a:pPr>
              <a:lnSpc>
                <a:spcPct val="110000"/>
              </a:lnSpc>
            </a:pPr>
            <a:r>
              <a:rPr lang="en-US" dirty="0"/>
              <a:t>Reactive planning is planning under uncertainty.</a:t>
            </a:r>
          </a:p>
          <a:p>
            <a:pPr marL="0" indent="0">
              <a:lnSpc>
                <a:spcPct val="110000"/>
              </a:lnSpc>
              <a:buNone/>
            </a:pPr>
            <a:r>
              <a:rPr lang="en-US" dirty="0"/>
              <a:t>• Makes use of the if-then rules.</a:t>
            </a:r>
          </a:p>
          <a:p>
            <a:pPr marL="0" indent="0">
              <a:lnSpc>
                <a:spcPct val="110000"/>
              </a:lnSpc>
              <a:buNone/>
            </a:pPr>
            <a:r>
              <a:rPr lang="en-US" dirty="0"/>
              <a:t>• The reactive planners are based on the concept that they should be able to handle an unknown situation too. So, the reaction rules are used that help them in doing so.</a:t>
            </a:r>
          </a:p>
          <a:p>
            <a:pPr marL="0" indent="0">
              <a:lnSpc>
                <a:spcPct val="110000"/>
              </a:lnSpc>
              <a:buNone/>
            </a:pPr>
            <a:r>
              <a:rPr lang="en-US" dirty="0"/>
              <a:t>• A rule selection is based on the priority and a holding condition that </a:t>
            </a:r>
            <a:r>
              <a:rPr lang="en-US" dirty="0" err="1"/>
              <a:t>maximises</a:t>
            </a:r>
            <a:r>
              <a:rPr lang="en-US" dirty="0"/>
              <a:t> the priority.</a:t>
            </a:r>
          </a:p>
          <a:p>
            <a:pPr marL="0" indent="0">
              <a:lnSpc>
                <a:spcPct val="110000"/>
              </a:lnSpc>
              <a:buNone/>
            </a:pPr>
            <a:r>
              <a:rPr lang="en-US" dirty="0">
                <a:solidFill>
                  <a:srgbClr val="FF0000"/>
                </a:solidFill>
              </a:rPr>
              <a:t>Example:</a:t>
            </a:r>
          </a:p>
          <a:p>
            <a:pPr marL="0" indent="0">
              <a:lnSpc>
                <a:spcPct val="110000"/>
              </a:lnSpc>
              <a:buNone/>
            </a:pPr>
            <a:r>
              <a:rPr lang="en-US" dirty="0"/>
              <a:t>A robot vacuum cleaner is cleaning a room. It doesn’t have a detailed map. It just reacts based on its sensors.</a:t>
            </a:r>
          </a:p>
          <a:p>
            <a:pPr marL="0" indent="0">
              <a:lnSpc>
                <a:spcPct val="110000"/>
              </a:lnSpc>
              <a:buNone/>
            </a:pPr>
            <a:r>
              <a:rPr lang="en-US" dirty="0"/>
              <a:t>Plan (reactive):</a:t>
            </a:r>
          </a:p>
          <a:p>
            <a:pPr>
              <a:lnSpc>
                <a:spcPct val="110000"/>
              </a:lnSpc>
            </a:pPr>
            <a:r>
              <a:rPr lang="en-US" dirty="0"/>
              <a:t>If it detects dirt → Move toward dirt and clean</a:t>
            </a:r>
          </a:p>
          <a:p>
            <a:pPr>
              <a:lnSpc>
                <a:spcPct val="110000"/>
              </a:lnSpc>
            </a:pPr>
            <a:r>
              <a:rPr lang="en-US" dirty="0"/>
              <a:t>If it senses an obstacle (like a wall) → Turn and move in another direction</a:t>
            </a:r>
          </a:p>
          <a:p>
            <a:pPr>
              <a:lnSpc>
                <a:spcPct val="110000"/>
              </a:lnSpc>
            </a:pPr>
            <a:r>
              <a:rPr lang="en-US" dirty="0"/>
              <a:t>If the battery is low → Immediately stop cleaning and return to charging station</a:t>
            </a:r>
            <a:endParaRPr lang="en-IN" dirty="0"/>
          </a:p>
        </p:txBody>
      </p:sp>
    </p:spTree>
    <p:extLst>
      <p:ext uri="{BB962C8B-B14F-4D97-AF65-F5344CB8AC3E}">
        <p14:creationId xmlns:p14="http://schemas.microsoft.com/office/powerpoint/2010/main" val="1582959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0DF9-178B-62D2-E744-AC810B4A4A79}"/>
              </a:ext>
            </a:extLst>
          </p:cNvPr>
          <p:cNvSpPr>
            <a:spLocks noGrp="1"/>
          </p:cNvSpPr>
          <p:nvPr>
            <p:ph type="title"/>
          </p:nvPr>
        </p:nvSpPr>
        <p:spPr>
          <a:xfrm>
            <a:off x="838199" y="98544"/>
            <a:ext cx="10515600" cy="843189"/>
          </a:xfrm>
        </p:spPr>
        <p:txBody>
          <a:bodyPr/>
          <a:lstStyle/>
          <a:p>
            <a:pPr algn="ctr"/>
            <a:r>
              <a:rPr lang="en-IN" dirty="0"/>
              <a:t>Machine Learning</a:t>
            </a:r>
          </a:p>
        </p:txBody>
      </p:sp>
      <p:sp>
        <p:nvSpPr>
          <p:cNvPr id="3" name="Content Placeholder 2">
            <a:extLst>
              <a:ext uri="{FF2B5EF4-FFF2-40B4-BE49-F238E27FC236}">
                <a16:creationId xmlns:a16="http://schemas.microsoft.com/office/drawing/2014/main" id="{359ABEEB-B47D-DA97-EB59-7AD8770851B9}"/>
              </a:ext>
            </a:extLst>
          </p:cNvPr>
          <p:cNvSpPr>
            <a:spLocks noGrp="1"/>
          </p:cNvSpPr>
          <p:nvPr>
            <p:ph idx="1"/>
          </p:nvPr>
        </p:nvSpPr>
        <p:spPr>
          <a:xfrm>
            <a:off x="446314" y="941733"/>
            <a:ext cx="11636829" cy="5235230"/>
          </a:xfrm>
        </p:spPr>
        <p:txBody>
          <a:bodyPr>
            <a:normAutofit/>
          </a:bodyPr>
          <a:lstStyle/>
          <a:p>
            <a:r>
              <a:rPr lang="en-US" sz="2600" dirty="0"/>
              <a:t>Machine learning is a field of artificial intelligence that focuses on enabling computers to learn from data without being explicitly programmed. </a:t>
            </a:r>
          </a:p>
          <a:p>
            <a:r>
              <a:rPr lang="en-US" sz="2600" dirty="0"/>
              <a:t>It involves creating algorithms that can analyze patterns in data and generate models for specific tasks, allowing for accurate predictions and intelligent behavior. </a:t>
            </a:r>
            <a:endParaRPr lang="en-IN" sz="2600" dirty="0"/>
          </a:p>
        </p:txBody>
      </p:sp>
      <p:pic>
        <p:nvPicPr>
          <p:cNvPr id="7170" name="Picture 2" descr="The relationship between machine learning and human learning">
            <a:extLst>
              <a:ext uri="{FF2B5EF4-FFF2-40B4-BE49-F238E27FC236}">
                <a16:creationId xmlns:a16="http://schemas.microsoft.com/office/drawing/2014/main" id="{F104BB03-AE05-D918-D768-DB358750E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333" y="2844574"/>
            <a:ext cx="8096250"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118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ow does ml work ">
            <a:extLst>
              <a:ext uri="{FF2B5EF4-FFF2-40B4-BE49-F238E27FC236}">
                <a16:creationId xmlns:a16="http://schemas.microsoft.com/office/drawing/2014/main" id="{2FA490BB-1F1D-0597-CBAC-AD1C7CE93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295275"/>
            <a:ext cx="10439400" cy="626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415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FA2797-D4A6-5AA0-E9E6-8456F19C7754}"/>
              </a:ext>
            </a:extLst>
          </p:cNvPr>
          <p:cNvSpPr>
            <a:spLocks noGrp="1"/>
          </p:cNvSpPr>
          <p:nvPr>
            <p:ph type="title"/>
          </p:nvPr>
        </p:nvSpPr>
        <p:spPr>
          <a:xfrm>
            <a:off x="838200" y="365125"/>
            <a:ext cx="10515600" cy="712561"/>
          </a:xfrm>
        </p:spPr>
        <p:txBody>
          <a:bodyPr/>
          <a:lstStyle/>
          <a:p>
            <a:pPr algn="ctr"/>
            <a:r>
              <a:rPr lang="en-IN" dirty="0"/>
              <a:t>Machine Learning</a:t>
            </a:r>
          </a:p>
        </p:txBody>
      </p:sp>
      <p:sp>
        <p:nvSpPr>
          <p:cNvPr id="6" name="Content Placeholder 5">
            <a:extLst>
              <a:ext uri="{FF2B5EF4-FFF2-40B4-BE49-F238E27FC236}">
                <a16:creationId xmlns:a16="http://schemas.microsoft.com/office/drawing/2014/main" id="{80AC994B-982F-34F3-2E6C-3989F7DAA7F0}"/>
              </a:ext>
            </a:extLst>
          </p:cNvPr>
          <p:cNvSpPr>
            <a:spLocks noGrp="1"/>
          </p:cNvSpPr>
          <p:nvPr>
            <p:ph idx="1"/>
          </p:nvPr>
        </p:nvSpPr>
        <p:spPr>
          <a:xfrm>
            <a:off x="838200" y="1175657"/>
            <a:ext cx="10515600" cy="5497286"/>
          </a:xfrm>
        </p:spPr>
        <p:txBody>
          <a:bodyPr>
            <a:normAutofit fontScale="92500" lnSpcReduction="10000"/>
          </a:bodyPr>
          <a:lstStyle/>
          <a:p>
            <a:pPr marL="0" indent="0">
              <a:buNone/>
            </a:pPr>
            <a:r>
              <a:rPr lang="en-IN" dirty="0">
                <a:solidFill>
                  <a:srgbClr val="FF0000"/>
                </a:solidFill>
              </a:rPr>
              <a:t>Goals of machine learning</a:t>
            </a:r>
          </a:p>
          <a:p>
            <a:r>
              <a:rPr lang="en-US" dirty="0"/>
              <a:t>To produce learning algorithms with practical value.</a:t>
            </a:r>
          </a:p>
          <a:p>
            <a:pPr marL="0" indent="0">
              <a:buNone/>
            </a:pPr>
            <a:r>
              <a:rPr lang="en-US" dirty="0"/>
              <a:t>• Development and enhancement of computer algorithms and models to meet the decision making requirements in practical scenarios.</a:t>
            </a:r>
          </a:p>
          <a:p>
            <a:pPr marL="0" indent="0">
              <a:buNone/>
            </a:pPr>
            <a:r>
              <a:rPr lang="en-US" dirty="0"/>
              <a:t>• To facilitate in building Intelligent System (IS) that can be used in solving real time problems.</a:t>
            </a:r>
            <a:endParaRPr lang="en-IN" dirty="0"/>
          </a:p>
          <a:p>
            <a:pPr marL="0" indent="0">
              <a:buNone/>
            </a:pPr>
            <a:r>
              <a:rPr lang="en-IN" dirty="0">
                <a:solidFill>
                  <a:srgbClr val="FF0000"/>
                </a:solidFill>
              </a:rPr>
              <a:t>Challenges of Machine Learning</a:t>
            </a:r>
          </a:p>
          <a:p>
            <a:r>
              <a:rPr lang="en-US" dirty="0"/>
              <a:t>Availability of limited learning data and unknown perspectives.</a:t>
            </a:r>
          </a:p>
          <a:p>
            <a:pPr marL="0" indent="0">
              <a:buNone/>
            </a:pPr>
            <a:r>
              <a:rPr lang="en-US" dirty="0"/>
              <a:t>• Acquiring Accurate , compact and precise knowledge building.</a:t>
            </a:r>
          </a:p>
          <a:p>
            <a:pPr marL="0" indent="0">
              <a:buNone/>
            </a:pPr>
            <a:r>
              <a:rPr lang="en-US" dirty="0"/>
              <a:t>• Require large working memory to store data.</a:t>
            </a:r>
          </a:p>
          <a:p>
            <a:pPr marL="0" indent="0">
              <a:buNone/>
            </a:pPr>
            <a:r>
              <a:rPr lang="en-US" dirty="0"/>
              <a:t>• Focusing Too Much on Algorithms and Theories</a:t>
            </a:r>
          </a:p>
          <a:p>
            <a:pPr marL="0" indent="0">
              <a:buNone/>
            </a:pPr>
            <a:r>
              <a:rPr lang="en-US" dirty="0"/>
              <a:t>• Monitoring and maintenance</a:t>
            </a:r>
            <a:endParaRPr lang="en-IN" dirty="0"/>
          </a:p>
          <a:p>
            <a:endParaRPr lang="en-IN" dirty="0"/>
          </a:p>
        </p:txBody>
      </p:sp>
    </p:spTree>
    <p:extLst>
      <p:ext uri="{BB962C8B-B14F-4D97-AF65-F5344CB8AC3E}">
        <p14:creationId xmlns:p14="http://schemas.microsoft.com/office/powerpoint/2010/main" val="3794901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FA2797-D4A6-5AA0-E9E6-8456F19C7754}"/>
              </a:ext>
            </a:extLst>
          </p:cNvPr>
          <p:cNvSpPr>
            <a:spLocks noGrp="1"/>
          </p:cNvSpPr>
          <p:nvPr>
            <p:ph type="title"/>
          </p:nvPr>
        </p:nvSpPr>
        <p:spPr>
          <a:xfrm>
            <a:off x="838200" y="174171"/>
            <a:ext cx="10515600" cy="875846"/>
          </a:xfrm>
        </p:spPr>
        <p:txBody>
          <a:bodyPr/>
          <a:lstStyle/>
          <a:p>
            <a:pPr algn="ctr"/>
            <a:r>
              <a:rPr lang="en-IN" dirty="0"/>
              <a:t>Machine Learning</a:t>
            </a:r>
          </a:p>
        </p:txBody>
      </p:sp>
      <p:sp>
        <p:nvSpPr>
          <p:cNvPr id="6" name="Content Placeholder 5">
            <a:extLst>
              <a:ext uri="{FF2B5EF4-FFF2-40B4-BE49-F238E27FC236}">
                <a16:creationId xmlns:a16="http://schemas.microsoft.com/office/drawing/2014/main" id="{80AC994B-982F-34F3-2E6C-3989F7DAA7F0}"/>
              </a:ext>
            </a:extLst>
          </p:cNvPr>
          <p:cNvSpPr>
            <a:spLocks noGrp="1"/>
          </p:cNvSpPr>
          <p:nvPr>
            <p:ph sz="half" idx="1"/>
          </p:nvPr>
        </p:nvSpPr>
        <p:spPr>
          <a:xfrm>
            <a:off x="838200" y="1959429"/>
            <a:ext cx="5181600" cy="4217534"/>
          </a:xfrm>
        </p:spPr>
        <p:txBody>
          <a:bodyPr>
            <a:normAutofit lnSpcReduction="10000"/>
          </a:bodyPr>
          <a:lstStyle/>
          <a:p>
            <a:pPr marL="0" indent="0">
              <a:buNone/>
            </a:pPr>
            <a:r>
              <a:rPr lang="en-US" dirty="0">
                <a:solidFill>
                  <a:srgbClr val="FF0000"/>
                </a:solidFill>
              </a:rPr>
              <a:t>Computational structure used in Machine learning:</a:t>
            </a:r>
          </a:p>
          <a:p>
            <a:pPr marL="0" indent="0">
              <a:buNone/>
            </a:pPr>
            <a:r>
              <a:rPr lang="en-US" dirty="0"/>
              <a:t>1. Functions.</a:t>
            </a:r>
          </a:p>
          <a:p>
            <a:pPr marL="0" indent="0">
              <a:buNone/>
            </a:pPr>
            <a:r>
              <a:rPr lang="en-US" dirty="0"/>
              <a:t>2. Logic programs and rule sets</a:t>
            </a:r>
          </a:p>
          <a:p>
            <a:pPr marL="0" indent="0">
              <a:buNone/>
            </a:pPr>
            <a:r>
              <a:rPr lang="en-US" dirty="0"/>
              <a:t>3. Finite state machines</a:t>
            </a:r>
          </a:p>
          <a:p>
            <a:pPr marL="0" indent="0">
              <a:buNone/>
            </a:pPr>
            <a:r>
              <a:rPr lang="en-US" dirty="0"/>
              <a:t>4. Grammars</a:t>
            </a:r>
          </a:p>
          <a:p>
            <a:pPr marL="0" indent="0">
              <a:buNone/>
            </a:pPr>
            <a:r>
              <a:rPr lang="en-US" dirty="0"/>
              <a:t>5. Problem solving system</a:t>
            </a:r>
          </a:p>
          <a:p>
            <a:pPr marL="0" indent="0">
              <a:buNone/>
            </a:pPr>
            <a:endParaRPr lang="en-US" dirty="0"/>
          </a:p>
          <a:p>
            <a:pPr marL="0" indent="0">
              <a:buNone/>
            </a:pPr>
            <a:endParaRPr lang="en-IN" dirty="0"/>
          </a:p>
          <a:p>
            <a:endParaRPr lang="en-IN" dirty="0"/>
          </a:p>
        </p:txBody>
      </p:sp>
      <p:sp>
        <p:nvSpPr>
          <p:cNvPr id="2" name="Content Placeholder 1">
            <a:extLst>
              <a:ext uri="{FF2B5EF4-FFF2-40B4-BE49-F238E27FC236}">
                <a16:creationId xmlns:a16="http://schemas.microsoft.com/office/drawing/2014/main" id="{7723A8C5-D566-787C-FEF1-860A7D0FFCCE}"/>
              </a:ext>
            </a:extLst>
          </p:cNvPr>
          <p:cNvSpPr>
            <a:spLocks noGrp="1"/>
          </p:cNvSpPr>
          <p:nvPr>
            <p:ph sz="half" idx="2"/>
          </p:nvPr>
        </p:nvSpPr>
        <p:spPr>
          <a:xfrm>
            <a:off x="6172200" y="1240972"/>
            <a:ext cx="5725886" cy="5442857"/>
          </a:xfrm>
        </p:spPr>
        <p:txBody>
          <a:bodyPr>
            <a:normAutofit lnSpcReduction="10000"/>
          </a:bodyPr>
          <a:lstStyle/>
          <a:p>
            <a:pPr marL="0" indent="0">
              <a:buNone/>
            </a:pPr>
            <a:r>
              <a:rPr lang="en-IN" dirty="0">
                <a:solidFill>
                  <a:srgbClr val="FF0000"/>
                </a:solidFill>
              </a:rPr>
              <a:t>Types of Machine Learning</a:t>
            </a:r>
          </a:p>
          <a:p>
            <a:r>
              <a:rPr lang="en-US" dirty="0"/>
              <a:t>Rote learning </a:t>
            </a:r>
          </a:p>
          <a:p>
            <a:pPr marL="0" indent="0">
              <a:buNone/>
            </a:pPr>
            <a:r>
              <a:rPr lang="en-US" dirty="0"/>
              <a:t>• Learning from observations</a:t>
            </a:r>
          </a:p>
          <a:p>
            <a:pPr lvl="1"/>
            <a:r>
              <a:rPr lang="en-US" dirty="0"/>
              <a:t>Learning from agents</a:t>
            </a:r>
          </a:p>
          <a:p>
            <a:pPr lvl="1"/>
            <a:r>
              <a:rPr lang="en-US" dirty="0"/>
              <a:t> Inductive learning</a:t>
            </a:r>
          </a:p>
          <a:p>
            <a:pPr lvl="1"/>
            <a:r>
              <a:rPr lang="en-US" dirty="0"/>
              <a:t> Decision tree learning</a:t>
            </a:r>
            <a:endParaRPr lang="en-IN" dirty="0"/>
          </a:p>
          <a:p>
            <a:pPr marL="0" indent="0">
              <a:buNone/>
            </a:pPr>
            <a:r>
              <a:rPr lang="en-US" dirty="0"/>
              <a:t> • Supervised learning  </a:t>
            </a:r>
          </a:p>
          <a:p>
            <a:pPr marL="0" indent="0">
              <a:buNone/>
            </a:pPr>
            <a:r>
              <a:rPr lang="en-US" dirty="0"/>
              <a:t>• Unsupervised learning  </a:t>
            </a:r>
          </a:p>
          <a:p>
            <a:pPr marL="0" indent="0">
              <a:buNone/>
            </a:pPr>
            <a:r>
              <a:rPr lang="en-US" dirty="0"/>
              <a:t>• Semi-supervised  learning  </a:t>
            </a:r>
          </a:p>
          <a:p>
            <a:pPr marL="0" indent="0">
              <a:buNone/>
            </a:pPr>
            <a:r>
              <a:rPr lang="en-US" dirty="0"/>
              <a:t>• Ensemble learning  </a:t>
            </a:r>
          </a:p>
          <a:p>
            <a:pPr marL="0" indent="0">
              <a:buNone/>
            </a:pPr>
            <a:r>
              <a:rPr lang="en-US" dirty="0"/>
              <a:t>• Discovery based learning</a:t>
            </a:r>
          </a:p>
          <a:p>
            <a:pPr marL="0" indent="0">
              <a:buNone/>
            </a:pPr>
            <a:r>
              <a:rPr lang="en-US" dirty="0"/>
              <a:t>• Learning by problem solving</a:t>
            </a:r>
            <a:endParaRPr lang="en-IN" dirty="0"/>
          </a:p>
          <a:p>
            <a:endParaRPr lang="en-IN" dirty="0"/>
          </a:p>
        </p:txBody>
      </p:sp>
    </p:spTree>
    <p:extLst>
      <p:ext uri="{BB962C8B-B14F-4D97-AF65-F5344CB8AC3E}">
        <p14:creationId xmlns:p14="http://schemas.microsoft.com/office/powerpoint/2010/main" val="2952614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9002D96-808A-4ED0-1CC4-CCE82DF58FD5}"/>
              </a:ext>
            </a:extLst>
          </p:cNvPr>
          <p:cNvSpPr>
            <a:spLocks noGrp="1"/>
          </p:cNvSpPr>
          <p:nvPr>
            <p:ph idx="1"/>
          </p:nvPr>
        </p:nvSpPr>
        <p:spPr>
          <a:xfrm>
            <a:off x="838200" y="1654629"/>
            <a:ext cx="10515600" cy="4522334"/>
          </a:xfrm>
        </p:spPr>
        <p:txBody>
          <a:bodyPr/>
          <a:lstStyle/>
          <a:p>
            <a:r>
              <a:rPr lang="en-US" dirty="0"/>
              <a:t>Rote learning is a rudimentary form of learning, which focusses on memorization. </a:t>
            </a:r>
          </a:p>
          <a:p>
            <a:r>
              <a:rPr lang="en-US" dirty="0"/>
              <a:t>Here, the values are stored so that these are not re-computed.</a:t>
            </a:r>
          </a:p>
          <a:p>
            <a:r>
              <a:rPr lang="en-US" dirty="0"/>
              <a:t> When computations are more expensive than re-computing from scratch, this strategy can save a significant amount of time.</a:t>
            </a:r>
          </a:p>
          <a:p>
            <a:r>
              <a:rPr lang="en-US" dirty="0"/>
              <a:t> Selective paging and caching are some of the examples of rote learning.</a:t>
            </a:r>
            <a:endParaRPr lang="en-IN" dirty="0"/>
          </a:p>
        </p:txBody>
      </p:sp>
      <p:sp>
        <p:nvSpPr>
          <p:cNvPr id="7" name="Title 4">
            <a:extLst>
              <a:ext uri="{FF2B5EF4-FFF2-40B4-BE49-F238E27FC236}">
                <a16:creationId xmlns:a16="http://schemas.microsoft.com/office/drawing/2014/main" id="{340C7417-EEBD-82B5-90B3-241A1AB257AD}"/>
              </a:ext>
            </a:extLst>
          </p:cNvPr>
          <p:cNvSpPr>
            <a:spLocks noGrp="1"/>
          </p:cNvSpPr>
          <p:nvPr>
            <p:ph type="title"/>
          </p:nvPr>
        </p:nvSpPr>
        <p:spPr>
          <a:xfrm>
            <a:off x="838200" y="365125"/>
            <a:ext cx="10515600" cy="854075"/>
          </a:xfrm>
        </p:spPr>
        <p:txBody>
          <a:bodyPr/>
          <a:lstStyle/>
          <a:p>
            <a:pPr marL="0" indent="0" algn="ctr">
              <a:buNone/>
            </a:pPr>
            <a:r>
              <a:rPr lang="en-IN" dirty="0"/>
              <a:t>ML - Rote Learning</a:t>
            </a:r>
          </a:p>
        </p:txBody>
      </p:sp>
    </p:spTree>
    <p:extLst>
      <p:ext uri="{BB962C8B-B14F-4D97-AF65-F5344CB8AC3E}">
        <p14:creationId xmlns:p14="http://schemas.microsoft.com/office/powerpoint/2010/main" val="2455346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2B81F-3A2E-663D-3608-AF46AE6DC4CE}"/>
              </a:ext>
            </a:extLst>
          </p:cNvPr>
          <p:cNvSpPr>
            <a:spLocks noGrp="1"/>
          </p:cNvSpPr>
          <p:nvPr>
            <p:ph type="title"/>
          </p:nvPr>
        </p:nvSpPr>
        <p:spPr>
          <a:xfrm>
            <a:off x="838200" y="365125"/>
            <a:ext cx="10515600" cy="707895"/>
          </a:xfrm>
        </p:spPr>
        <p:txBody>
          <a:bodyPr/>
          <a:lstStyle/>
          <a:p>
            <a:pPr algn="ctr"/>
            <a:r>
              <a:rPr lang="en-IN" dirty="0"/>
              <a:t>ML - Learning from agents</a:t>
            </a:r>
          </a:p>
        </p:txBody>
      </p:sp>
      <p:sp>
        <p:nvSpPr>
          <p:cNvPr id="3" name="Content Placeholder 2">
            <a:extLst>
              <a:ext uri="{FF2B5EF4-FFF2-40B4-BE49-F238E27FC236}">
                <a16:creationId xmlns:a16="http://schemas.microsoft.com/office/drawing/2014/main" id="{7AACECFE-4E4F-CB42-53A5-D2E41A6D8396}"/>
              </a:ext>
            </a:extLst>
          </p:cNvPr>
          <p:cNvSpPr>
            <a:spLocks noGrp="1"/>
          </p:cNvSpPr>
          <p:nvPr>
            <p:ph idx="1"/>
          </p:nvPr>
        </p:nvSpPr>
        <p:spPr>
          <a:xfrm>
            <a:off x="838200" y="1203649"/>
            <a:ext cx="10515600" cy="4973314"/>
          </a:xfrm>
        </p:spPr>
        <p:txBody>
          <a:bodyPr/>
          <a:lstStyle/>
          <a:p>
            <a:pPr marL="0" indent="0">
              <a:buNone/>
            </a:pPr>
            <a:r>
              <a:rPr lang="en-US" dirty="0"/>
              <a:t>•An agent is defined the computational entity which is capable of receiving the environment and can act based on the situation.</a:t>
            </a:r>
          </a:p>
          <a:p>
            <a:pPr marL="0" indent="0">
              <a:buNone/>
            </a:pPr>
            <a:r>
              <a:rPr lang="en-US" dirty="0"/>
              <a:t>•The agent is composed of learning element performance element and a curiosity element.</a:t>
            </a:r>
          </a:p>
          <a:p>
            <a:pPr marL="0" indent="0">
              <a:buNone/>
            </a:pPr>
            <a:r>
              <a:rPr lang="en-US" dirty="0"/>
              <a:t>•Based on the coordination between these elements the outcome of the agent’s behavior is measured.</a:t>
            </a:r>
          </a:p>
          <a:p>
            <a:pPr marL="0" indent="0">
              <a:buNone/>
            </a:pPr>
            <a:endParaRPr lang="en-IN" dirty="0"/>
          </a:p>
        </p:txBody>
      </p:sp>
      <p:pic>
        <p:nvPicPr>
          <p:cNvPr id="5" name="Picture 4">
            <a:extLst>
              <a:ext uri="{FF2B5EF4-FFF2-40B4-BE49-F238E27FC236}">
                <a16:creationId xmlns:a16="http://schemas.microsoft.com/office/drawing/2014/main" id="{35127151-6EF4-FC63-0693-1145EB2600F7}"/>
              </a:ext>
            </a:extLst>
          </p:cNvPr>
          <p:cNvPicPr>
            <a:picLocks noChangeAspect="1"/>
          </p:cNvPicPr>
          <p:nvPr/>
        </p:nvPicPr>
        <p:blipFill>
          <a:blip r:embed="rId2"/>
          <a:stretch>
            <a:fillRect/>
          </a:stretch>
        </p:blipFill>
        <p:spPr>
          <a:xfrm>
            <a:off x="3285938" y="4046392"/>
            <a:ext cx="6355469" cy="2373458"/>
          </a:xfrm>
          <a:prstGeom prst="rect">
            <a:avLst/>
          </a:prstGeom>
        </p:spPr>
      </p:pic>
    </p:spTree>
    <p:extLst>
      <p:ext uri="{BB962C8B-B14F-4D97-AF65-F5344CB8AC3E}">
        <p14:creationId xmlns:p14="http://schemas.microsoft.com/office/powerpoint/2010/main" val="922867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6896F-622B-BD45-3A51-F435EFBC027B}"/>
              </a:ext>
            </a:extLst>
          </p:cNvPr>
          <p:cNvSpPr>
            <a:spLocks noGrp="1"/>
          </p:cNvSpPr>
          <p:nvPr>
            <p:ph type="title"/>
          </p:nvPr>
        </p:nvSpPr>
        <p:spPr/>
        <p:txBody>
          <a:bodyPr/>
          <a:lstStyle/>
          <a:p>
            <a:pPr algn="ctr"/>
            <a:r>
              <a:rPr lang="en-IN" dirty="0"/>
              <a:t>ML - Inductive Learning</a:t>
            </a:r>
          </a:p>
        </p:txBody>
      </p:sp>
      <p:sp>
        <p:nvSpPr>
          <p:cNvPr id="3" name="Content Placeholder 2">
            <a:extLst>
              <a:ext uri="{FF2B5EF4-FFF2-40B4-BE49-F238E27FC236}">
                <a16:creationId xmlns:a16="http://schemas.microsoft.com/office/drawing/2014/main" id="{371B0DAA-68C7-D93A-6059-CFAED442A243}"/>
              </a:ext>
            </a:extLst>
          </p:cNvPr>
          <p:cNvSpPr>
            <a:spLocks noGrp="1"/>
          </p:cNvSpPr>
          <p:nvPr>
            <p:ph idx="1"/>
          </p:nvPr>
        </p:nvSpPr>
        <p:spPr/>
        <p:txBody>
          <a:bodyPr>
            <a:normAutofit fontScale="92500" lnSpcReduction="10000"/>
          </a:bodyPr>
          <a:lstStyle/>
          <a:p>
            <a:r>
              <a:rPr lang="en-US" dirty="0"/>
              <a:t>Inductive learning involves learning generalized rules from specific examples (can think of this as the “inverse” of deduction)</a:t>
            </a:r>
          </a:p>
          <a:p>
            <a:r>
              <a:rPr lang="en-US" dirty="0"/>
              <a:t>Main task: given a set of examples, each classified as positive or negative produce a concept description that matches exactly the positive examples.</a:t>
            </a:r>
          </a:p>
          <a:p>
            <a:r>
              <a:rPr lang="en-US" dirty="0"/>
              <a:t>The examples are coded in some representation language, e.g. they are coded by a finite set of real-valued features.</a:t>
            </a:r>
          </a:p>
          <a:p>
            <a:r>
              <a:rPr lang="en-US" dirty="0"/>
              <a:t>The concept description is in a certain language that is presumably a superset of the language of possible example encodings.</a:t>
            </a:r>
          </a:p>
          <a:p>
            <a:r>
              <a:rPr lang="en-US" dirty="0"/>
              <a:t>A “correct” concept description is one that classifies correctly ALL possible examples, not just those given in the training set.</a:t>
            </a:r>
            <a:endParaRPr lang="en-IN" dirty="0"/>
          </a:p>
        </p:txBody>
      </p:sp>
    </p:spTree>
    <p:extLst>
      <p:ext uri="{BB962C8B-B14F-4D97-AF65-F5344CB8AC3E}">
        <p14:creationId xmlns:p14="http://schemas.microsoft.com/office/powerpoint/2010/main" val="3151768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E3969-2D20-4039-6C8E-300E871CC40C}"/>
              </a:ext>
            </a:extLst>
          </p:cNvPr>
          <p:cNvSpPr>
            <a:spLocks noGrp="1"/>
          </p:cNvSpPr>
          <p:nvPr>
            <p:ph type="title"/>
          </p:nvPr>
        </p:nvSpPr>
        <p:spPr>
          <a:xfrm>
            <a:off x="979714" y="184843"/>
            <a:ext cx="10515600" cy="810532"/>
          </a:xfrm>
        </p:spPr>
        <p:txBody>
          <a:bodyPr/>
          <a:lstStyle/>
          <a:p>
            <a:pPr algn="ctr"/>
            <a:r>
              <a:rPr lang="en-IN" dirty="0"/>
              <a:t>ML - Decision Tree Learning</a:t>
            </a:r>
          </a:p>
        </p:txBody>
      </p:sp>
      <p:sp>
        <p:nvSpPr>
          <p:cNvPr id="3" name="Content Placeholder 2">
            <a:extLst>
              <a:ext uri="{FF2B5EF4-FFF2-40B4-BE49-F238E27FC236}">
                <a16:creationId xmlns:a16="http://schemas.microsoft.com/office/drawing/2014/main" id="{DA59BC21-81EB-9444-02EB-7F589388B191}"/>
              </a:ext>
            </a:extLst>
          </p:cNvPr>
          <p:cNvSpPr>
            <a:spLocks noGrp="1"/>
          </p:cNvSpPr>
          <p:nvPr>
            <p:ph idx="1"/>
          </p:nvPr>
        </p:nvSpPr>
        <p:spPr>
          <a:xfrm>
            <a:off x="838200" y="1175658"/>
            <a:ext cx="10885714" cy="5001305"/>
          </a:xfrm>
        </p:spPr>
        <p:txBody>
          <a:bodyPr/>
          <a:lstStyle/>
          <a:p>
            <a:r>
              <a:rPr lang="en-US" dirty="0"/>
              <a:t>The learned function is represented by a decision tree.</a:t>
            </a:r>
          </a:p>
          <a:p>
            <a:r>
              <a:rPr lang="en-US" dirty="0"/>
              <a:t>In terms of programming it is also represented as if then rules.</a:t>
            </a:r>
          </a:p>
          <a:p>
            <a:r>
              <a:rPr lang="en-US" dirty="0"/>
              <a:t>Decision tree depicts the simple learning from the observation, method.</a:t>
            </a:r>
          </a:p>
          <a:p>
            <a:r>
              <a:rPr lang="en-US" dirty="0"/>
              <a:t>Based on the observation, at every node, decision is taken.</a:t>
            </a:r>
          </a:p>
          <a:p>
            <a:endParaRPr lang="en-IN" dirty="0"/>
          </a:p>
        </p:txBody>
      </p:sp>
      <p:pic>
        <p:nvPicPr>
          <p:cNvPr id="6" name="Picture 5">
            <a:extLst>
              <a:ext uri="{FF2B5EF4-FFF2-40B4-BE49-F238E27FC236}">
                <a16:creationId xmlns:a16="http://schemas.microsoft.com/office/drawing/2014/main" id="{AC3F337C-EB68-9314-1822-11C767DEBC4B}"/>
              </a:ext>
            </a:extLst>
          </p:cNvPr>
          <p:cNvPicPr>
            <a:picLocks noChangeAspect="1"/>
          </p:cNvPicPr>
          <p:nvPr/>
        </p:nvPicPr>
        <p:blipFill>
          <a:blip r:embed="rId2"/>
          <a:stretch>
            <a:fillRect/>
          </a:stretch>
        </p:blipFill>
        <p:spPr>
          <a:xfrm>
            <a:off x="3174799" y="3766457"/>
            <a:ext cx="6125430" cy="2805344"/>
          </a:xfrm>
          <a:prstGeom prst="rect">
            <a:avLst/>
          </a:prstGeom>
        </p:spPr>
      </p:pic>
    </p:spTree>
    <p:extLst>
      <p:ext uri="{BB962C8B-B14F-4D97-AF65-F5344CB8AC3E}">
        <p14:creationId xmlns:p14="http://schemas.microsoft.com/office/powerpoint/2010/main" val="1259011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F48267-B8C8-9BE6-C133-733AEED69CD3}"/>
              </a:ext>
            </a:extLst>
          </p:cNvPr>
          <p:cNvSpPr>
            <a:spLocks noGrp="1"/>
          </p:cNvSpPr>
          <p:nvPr>
            <p:ph type="title"/>
          </p:nvPr>
        </p:nvSpPr>
        <p:spPr>
          <a:xfrm>
            <a:off x="640080" y="329184"/>
            <a:ext cx="6894576" cy="1783080"/>
          </a:xfrm>
        </p:spPr>
        <p:txBody>
          <a:bodyPr anchor="b">
            <a:normAutofit/>
          </a:bodyPr>
          <a:lstStyle/>
          <a:p>
            <a:r>
              <a:rPr lang="en-IN" sz="5400"/>
              <a:t>ML - Supervised learning</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4273875-A2CF-43FB-6575-55FDDA1F33BA}"/>
              </a:ext>
            </a:extLst>
          </p:cNvPr>
          <p:cNvSpPr>
            <a:spLocks noGrp="1"/>
          </p:cNvSpPr>
          <p:nvPr>
            <p:ph idx="1"/>
          </p:nvPr>
        </p:nvSpPr>
        <p:spPr>
          <a:xfrm>
            <a:off x="640080" y="2706624"/>
            <a:ext cx="5094544" cy="3483864"/>
          </a:xfrm>
        </p:spPr>
        <p:txBody>
          <a:bodyPr>
            <a:normAutofit fontScale="92500"/>
          </a:bodyPr>
          <a:lstStyle/>
          <a:p>
            <a:r>
              <a:rPr lang="en-US" sz="2200" dirty="0"/>
              <a:t>Uses labelled dataset.</a:t>
            </a:r>
          </a:p>
          <a:p>
            <a:r>
              <a:rPr lang="en-US" sz="2200" dirty="0"/>
              <a:t>Supervised learning is the learning algorithm that is provided with the set of training data and the algorithm further induces the classifier to classify the unseen or new data.</a:t>
            </a:r>
          </a:p>
          <a:p>
            <a:r>
              <a:rPr lang="en-US" sz="2200" dirty="0"/>
              <a:t>A hyperplane in Machine Learning is a crucial deciding boundary that partitions the input space into two or more sections, with each section corresponding to a unique class or output label. </a:t>
            </a:r>
            <a:endParaRPr lang="en-IN" sz="2200" dirty="0"/>
          </a:p>
        </p:txBody>
      </p:sp>
      <p:pic>
        <p:nvPicPr>
          <p:cNvPr id="5" name="Picture 4">
            <a:extLst>
              <a:ext uri="{FF2B5EF4-FFF2-40B4-BE49-F238E27FC236}">
                <a16:creationId xmlns:a16="http://schemas.microsoft.com/office/drawing/2014/main" id="{3CD8B33A-A32F-E88E-446B-D9BEBA1D259D}"/>
              </a:ext>
            </a:extLst>
          </p:cNvPr>
          <p:cNvPicPr>
            <a:picLocks noChangeAspect="1"/>
          </p:cNvPicPr>
          <p:nvPr/>
        </p:nvPicPr>
        <p:blipFill>
          <a:blip r:embed="rId2"/>
          <a:stretch>
            <a:fillRect/>
          </a:stretch>
        </p:blipFill>
        <p:spPr>
          <a:xfrm>
            <a:off x="6289243" y="3813047"/>
            <a:ext cx="4759757" cy="2377441"/>
          </a:xfrm>
          <a:prstGeom prst="rect">
            <a:avLst/>
          </a:prstGeom>
        </p:spPr>
      </p:pic>
      <p:pic>
        <p:nvPicPr>
          <p:cNvPr id="6" name="Picture 5">
            <a:extLst>
              <a:ext uri="{FF2B5EF4-FFF2-40B4-BE49-F238E27FC236}">
                <a16:creationId xmlns:a16="http://schemas.microsoft.com/office/drawing/2014/main" id="{E883B25B-620A-405E-EED2-A61EA38036FB}"/>
              </a:ext>
            </a:extLst>
          </p:cNvPr>
          <p:cNvPicPr>
            <a:picLocks noChangeAspect="1"/>
          </p:cNvPicPr>
          <p:nvPr/>
        </p:nvPicPr>
        <p:blipFill>
          <a:blip r:embed="rId3"/>
          <a:stretch>
            <a:fillRect/>
          </a:stretch>
        </p:blipFill>
        <p:spPr>
          <a:xfrm>
            <a:off x="5734624" y="371816"/>
            <a:ext cx="5644054" cy="3070565"/>
          </a:xfrm>
          <a:prstGeom prst="rect">
            <a:avLst/>
          </a:prstGeom>
        </p:spPr>
      </p:pic>
    </p:spTree>
    <p:extLst>
      <p:ext uri="{BB962C8B-B14F-4D97-AF65-F5344CB8AC3E}">
        <p14:creationId xmlns:p14="http://schemas.microsoft.com/office/powerpoint/2010/main" val="162411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DFA9E-7346-8B8E-3FE0-75AC27A77FFF}"/>
              </a:ext>
            </a:extLst>
          </p:cNvPr>
          <p:cNvSpPr>
            <a:spLocks noGrp="1"/>
          </p:cNvSpPr>
          <p:nvPr>
            <p:ph type="title"/>
          </p:nvPr>
        </p:nvSpPr>
        <p:spPr>
          <a:xfrm>
            <a:off x="838200" y="365125"/>
            <a:ext cx="10515600" cy="642581"/>
          </a:xfrm>
        </p:spPr>
        <p:txBody>
          <a:bodyPr>
            <a:normAutofit fontScale="90000"/>
          </a:bodyPr>
          <a:lstStyle/>
          <a:p>
            <a:pPr algn="ctr"/>
            <a:r>
              <a:rPr lang="en-IN" dirty="0"/>
              <a:t>Hyperplane</a:t>
            </a:r>
          </a:p>
        </p:txBody>
      </p:sp>
      <p:sp>
        <p:nvSpPr>
          <p:cNvPr id="3" name="Content Placeholder 2">
            <a:extLst>
              <a:ext uri="{FF2B5EF4-FFF2-40B4-BE49-F238E27FC236}">
                <a16:creationId xmlns:a16="http://schemas.microsoft.com/office/drawing/2014/main" id="{67CE2077-3D07-8E21-C21B-667397D26DB4}"/>
              </a:ext>
            </a:extLst>
          </p:cNvPr>
          <p:cNvSpPr>
            <a:spLocks noGrp="1"/>
          </p:cNvSpPr>
          <p:nvPr>
            <p:ph idx="1"/>
          </p:nvPr>
        </p:nvSpPr>
        <p:spPr>
          <a:xfrm>
            <a:off x="391886" y="1195290"/>
            <a:ext cx="7294789" cy="5575624"/>
          </a:xfrm>
        </p:spPr>
        <p:txBody>
          <a:bodyPr>
            <a:normAutofit/>
          </a:bodyPr>
          <a:lstStyle/>
          <a:p>
            <a:r>
              <a:rPr lang="en-US" dirty="0"/>
              <a:t>Hyperplane is a line that linearly separates and classifies a set of data.</a:t>
            </a:r>
          </a:p>
          <a:p>
            <a:r>
              <a:rPr lang="en-US" dirty="0"/>
              <a:t>The </a:t>
            </a:r>
            <a:r>
              <a:rPr lang="en-US" dirty="0">
                <a:solidFill>
                  <a:srgbClr val="FF0000"/>
                </a:solidFill>
              </a:rPr>
              <a:t>further from the hyperplane our data points lie</a:t>
            </a:r>
            <a:r>
              <a:rPr lang="en-US" dirty="0"/>
              <a:t>, the more confident we are that they have been </a:t>
            </a:r>
            <a:r>
              <a:rPr lang="en-US" dirty="0">
                <a:solidFill>
                  <a:srgbClr val="FF0000"/>
                </a:solidFill>
              </a:rPr>
              <a:t>correctly classified</a:t>
            </a:r>
            <a:r>
              <a:rPr lang="en-US" dirty="0"/>
              <a:t>.</a:t>
            </a:r>
          </a:p>
          <a:p>
            <a:r>
              <a:rPr lang="en-US" dirty="0"/>
              <a:t> We therefore want our data points to be as far away from the hyperplane as possible, while still being on the correct side of it.</a:t>
            </a:r>
          </a:p>
          <a:p>
            <a:r>
              <a:rPr lang="en-US" dirty="0"/>
              <a:t>So when new testing data are added, whatever side of the hyperplane it lands will decide the class that we assign to it.</a:t>
            </a:r>
          </a:p>
          <a:p>
            <a:pPr marL="0" indent="0">
              <a:buNone/>
            </a:pPr>
            <a:endParaRPr lang="en-IN" dirty="0"/>
          </a:p>
        </p:txBody>
      </p:sp>
      <p:pic>
        <p:nvPicPr>
          <p:cNvPr id="5" name="Picture 4">
            <a:extLst>
              <a:ext uri="{FF2B5EF4-FFF2-40B4-BE49-F238E27FC236}">
                <a16:creationId xmlns:a16="http://schemas.microsoft.com/office/drawing/2014/main" id="{D1D903BB-4E34-8CE7-F819-D56C374E78BC}"/>
              </a:ext>
            </a:extLst>
          </p:cNvPr>
          <p:cNvPicPr>
            <a:picLocks noChangeAspect="1"/>
          </p:cNvPicPr>
          <p:nvPr/>
        </p:nvPicPr>
        <p:blipFill>
          <a:blip r:embed="rId2"/>
          <a:stretch>
            <a:fillRect/>
          </a:stretch>
        </p:blipFill>
        <p:spPr>
          <a:xfrm>
            <a:off x="7686675" y="1195290"/>
            <a:ext cx="3872807" cy="4130398"/>
          </a:xfrm>
          <a:prstGeom prst="rect">
            <a:avLst/>
          </a:prstGeom>
        </p:spPr>
      </p:pic>
    </p:spTree>
    <p:extLst>
      <p:ext uri="{BB962C8B-B14F-4D97-AF65-F5344CB8AC3E}">
        <p14:creationId xmlns:p14="http://schemas.microsoft.com/office/powerpoint/2010/main" val="2384396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C405-C5FD-4A63-AD39-8D7820F56B60}"/>
              </a:ext>
            </a:extLst>
          </p:cNvPr>
          <p:cNvSpPr>
            <a:spLocks noGrp="1"/>
          </p:cNvSpPr>
          <p:nvPr>
            <p:ph type="title"/>
          </p:nvPr>
        </p:nvSpPr>
        <p:spPr>
          <a:xfrm>
            <a:off x="760832" y="66804"/>
            <a:ext cx="10515600" cy="843189"/>
          </a:xfrm>
        </p:spPr>
        <p:txBody>
          <a:bodyPr/>
          <a:lstStyle/>
          <a:p>
            <a:pPr algn="ctr"/>
            <a:r>
              <a:rPr lang="en-IN" dirty="0"/>
              <a:t>ML - Unsupervised Learning</a:t>
            </a:r>
          </a:p>
        </p:txBody>
      </p:sp>
      <p:sp>
        <p:nvSpPr>
          <p:cNvPr id="3" name="Content Placeholder 2">
            <a:extLst>
              <a:ext uri="{FF2B5EF4-FFF2-40B4-BE49-F238E27FC236}">
                <a16:creationId xmlns:a16="http://schemas.microsoft.com/office/drawing/2014/main" id="{A95C3903-9071-9DB3-EFC7-5AA6F01DCADE}"/>
              </a:ext>
            </a:extLst>
          </p:cNvPr>
          <p:cNvSpPr>
            <a:spLocks noGrp="1"/>
          </p:cNvSpPr>
          <p:nvPr>
            <p:ph idx="1"/>
          </p:nvPr>
        </p:nvSpPr>
        <p:spPr>
          <a:xfrm>
            <a:off x="0" y="1404257"/>
            <a:ext cx="5736771" cy="4897114"/>
          </a:xfrm>
        </p:spPr>
        <p:txBody>
          <a:bodyPr>
            <a:normAutofit/>
          </a:bodyPr>
          <a:lstStyle/>
          <a:p>
            <a:r>
              <a:rPr lang="en-US" dirty="0"/>
              <a:t>Use unlabeled dataset.</a:t>
            </a:r>
          </a:p>
          <a:p>
            <a:r>
              <a:rPr lang="en-US" dirty="0"/>
              <a:t>Learning is more based on similarities and differences which are visible.</a:t>
            </a:r>
          </a:p>
          <a:p>
            <a:r>
              <a:rPr lang="en-US" dirty="0"/>
              <a:t>Grouping and categorization of the objects is based on the understanding of similarities and visualization of their relations</a:t>
            </a:r>
          </a:p>
          <a:p>
            <a:r>
              <a:rPr lang="en-US" dirty="0"/>
              <a:t>Unsupervised learning performs hierarchical clustering.</a:t>
            </a:r>
            <a:endParaRPr lang="en-IN" dirty="0"/>
          </a:p>
        </p:txBody>
      </p:sp>
      <p:pic>
        <p:nvPicPr>
          <p:cNvPr id="2050" name="Picture 2" descr="Unsupervised Learning">
            <a:extLst>
              <a:ext uri="{FF2B5EF4-FFF2-40B4-BE49-F238E27FC236}">
                <a16:creationId xmlns:a16="http://schemas.microsoft.com/office/drawing/2014/main" id="{7444FFFE-0344-DFEF-2A74-5183F425F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6771" y="1404257"/>
            <a:ext cx="6276446" cy="4452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08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CDD2E-9DF2-6D0B-4962-A79046AC8631}"/>
              </a:ext>
            </a:extLst>
          </p:cNvPr>
          <p:cNvSpPr>
            <a:spLocks noGrp="1"/>
          </p:cNvSpPr>
          <p:nvPr>
            <p:ph type="title"/>
          </p:nvPr>
        </p:nvSpPr>
        <p:spPr>
          <a:xfrm>
            <a:off x="838200" y="365126"/>
            <a:ext cx="10515600" cy="754548"/>
          </a:xfrm>
        </p:spPr>
        <p:txBody>
          <a:bodyPr/>
          <a:lstStyle/>
          <a:p>
            <a:pPr algn="ctr"/>
            <a:r>
              <a:rPr lang="en-IN" dirty="0"/>
              <a:t>ML - Semi supervised  Learning</a:t>
            </a:r>
          </a:p>
        </p:txBody>
      </p:sp>
      <p:sp>
        <p:nvSpPr>
          <p:cNvPr id="3" name="Content Placeholder 2">
            <a:extLst>
              <a:ext uri="{FF2B5EF4-FFF2-40B4-BE49-F238E27FC236}">
                <a16:creationId xmlns:a16="http://schemas.microsoft.com/office/drawing/2014/main" id="{D7ED2F7A-DC9D-7C60-5935-4BB19C4CB38C}"/>
              </a:ext>
            </a:extLst>
          </p:cNvPr>
          <p:cNvSpPr>
            <a:spLocks noGrp="1"/>
          </p:cNvSpPr>
          <p:nvPr>
            <p:ph idx="1"/>
          </p:nvPr>
        </p:nvSpPr>
        <p:spPr>
          <a:xfrm>
            <a:off x="359230" y="1236257"/>
            <a:ext cx="5606141" cy="5425800"/>
          </a:xfrm>
        </p:spPr>
        <p:txBody>
          <a:bodyPr>
            <a:normAutofit fontScale="92500" lnSpcReduction="10000"/>
          </a:bodyPr>
          <a:lstStyle/>
          <a:p>
            <a:r>
              <a:rPr lang="en-US" dirty="0"/>
              <a:t>Semi-supervised learning is a machine learning technique that uses a </a:t>
            </a:r>
            <a:r>
              <a:rPr lang="en-US" dirty="0">
                <a:solidFill>
                  <a:srgbClr val="FF0000"/>
                </a:solidFill>
              </a:rPr>
              <a:t>combination of supervised and unsupervised learning by applying labeled and unlabeled data </a:t>
            </a:r>
            <a:r>
              <a:rPr lang="en-US" dirty="0"/>
              <a:t>to train a model.</a:t>
            </a:r>
          </a:p>
          <a:p>
            <a:r>
              <a:rPr lang="en-US" dirty="0">
                <a:solidFill>
                  <a:srgbClr val="FF0000"/>
                </a:solidFill>
              </a:rPr>
              <a:t>Labeled data </a:t>
            </a:r>
            <a:r>
              <a:rPr lang="en-US" dirty="0"/>
              <a:t>provides the model with explicit examples of what input data corresponds to which labels, allowing the model to learn to predict it for new data.</a:t>
            </a:r>
          </a:p>
          <a:p>
            <a:r>
              <a:rPr lang="en-US" dirty="0">
                <a:solidFill>
                  <a:srgbClr val="FF0000"/>
                </a:solidFill>
              </a:rPr>
              <a:t>Unlabeled data </a:t>
            </a:r>
            <a:r>
              <a:rPr lang="en-US" dirty="0"/>
              <a:t>is then used to refine and improve this model, helping it better understand its overall structure and distribution</a:t>
            </a:r>
            <a:endParaRPr lang="en-IN" dirty="0"/>
          </a:p>
        </p:txBody>
      </p:sp>
      <p:pic>
        <p:nvPicPr>
          <p:cNvPr id="3076" name="Picture 4">
            <a:extLst>
              <a:ext uri="{FF2B5EF4-FFF2-40B4-BE49-F238E27FC236}">
                <a16:creationId xmlns:a16="http://schemas.microsoft.com/office/drawing/2014/main" id="{EF16FE0F-A921-C5F6-9514-75DD4CE22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2906" y="1659392"/>
            <a:ext cx="5889864" cy="4262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2292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996A7-1160-894E-0AA3-441E2CD5A694}"/>
              </a:ext>
            </a:extLst>
          </p:cNvPr>
          <p:cNvSpPr>
            <a:spLocks noGrp="1"/>
          </p:cNvSpPr>
          <p:nvPr>
            <p:ph type="title"/>
          </p:nvPr>
        </p:nvSpPr>
        <p:spPr>
          <a:xfrm>
            <a:off x="838200" y="140805"/>
            <a:ext cx="10515600" cy="623920"/>
          </a:xfrm>
        </p:spPr>
        <p:txBody>
          <a:bodyPr>
            <a:normAutofit fontScale="90000"/>
          </a:bodyPr>
          <a:lstStyle/>
          <a:p>
            <a:pPr algn="ctr"/>
            <a:r>
              <a:rPr lang="en-IN" dirty="0"/>
              <a:t>ML - Ensemble Learning</a:t>
            </a:r>
          </a:p>
        </p:txBody>
      </p:sp>
      <p:sp>
        <p:nvSpPr>
          <p:cNvPr id="4" name="Content Placeholder 3">
            <a:extLst>
              <a:ext uri="{FF2B5EF4-FFF2-40B4-BE49-F238E27FC236}">
                <a16:creationId xmlns:a16="http://schemas.microsoft.com/office/drawing/2014/main" id="{CB46AC98-8885-ACEC-F227-AAA77ED91EF6}"/>
              </a:ext>
            </a:extLst>
          </p:cNvPr>
          <p:cNvSpPr>
            <a:spLocks noGrp="1"/>
          </p:cNvSpPr>
          <p:nvPr>
            <p:ph idx="1"/>
          </p:nvPr>
        </p:nvSpPr>
        <p:spPr>
          <a:xfrm>
            <a:off x="838200" y="1143000"/>
            <a:ext cx="11114314" cy="5464629"/>
          </a:xfrm>
        </p:spPr>
        <p:txBody>
          <a:bodyPr>
            <a:normAutofit lnSpcReduction="10000"/>
          </a:bodyPr>
          <a:lstStyle/>
          <a:p>
            <a:pPr marL="0" indent="0">
              <a:buNone/>
            </a:pPr>
            <a:r>
              <a:rPr lang="en-US" sz="2800" dirty="0"/>
              <a:t>•  An ensemble model combines several individual models to produce more accurate predictions than a single model alone.</a:t>
            </a:r>
          </a:p>
          <a:p>
            <a:pPr marL="0" indent="0">
              <a:buNone/>
            </a:pPr>
            <a:r>
              <a:rPr lang="en-US" sz="2800" dirty="0"/>
              <a:t>• The most commonly used ensemble learning methods are</a:t>
            </a:r>
          </a:p>
          <a:p>
            <a:pPr marL="0" indent="0">
              <a:buNone/>
            </a:pPr>
            <a:r>
              <a:rPr lang="en-US" sz="2800" dirty="0">
                <a:solidFill>
                  <a:srgbClr val="C00000"/>
                </a:solidFill>
              </a:rPr>
              <a:t>1.Boosting:</a:t>
            </a:r>
          </a:p>
          <a:p>
            <a:pPr marL="0" indent="0">
              <a:buNone/>
            </a:pPr>
            <a:r>
              <a:rPr lang="en-US" sz="2800" dirty="0"/>
              <a:t>• Boosting can probably be defined as the method for generating accurate predictions by combining the rules that are comparatively inaccurate.</a:t>
            </a:r>
          </a:p>
          <a:p>
            <a:pPr marL="0" indent="0">
              <a:buNone/>
            </a:pPr>
            <a:r>
              <a:rPr lang="en-US" sz="2800" dirty="0"/>
              <a:t>• Boosting works on the weighted training sets. The weights of the training example reflects the importance of training examples.</a:t>
            </a:r>
          </a:p>
          <a:p>
            <a:pPr marL="0" indent="0">
              <a:buNone/>
            </a:pPr>
            <a:r>
              <a:rPr lang="en-US" sz="2800" dirty="0">
                <a:solidFill>
                  <a:srgbClr val="C00000"/>
                </a:solidFill>
              </a:rPr>
              <a:t>2.Bagging:</a:t>
            </a:r>
          </a:p>
          <a:p>
            <a:pPr marL="0" indent="0">
              <a:buNone/>
            </a:pPr>
            <a:r>
              <a:rPr lang="en-US" sz="2800" dirty="0"/>
              <a:t>• In Bagging, the training data is resampled. This is referred to as bootstrap sampling, where the training data with replacement is taken in the learning approaches.</a:t>
            </a:r>
            <a:endParaRPr lang="en-IN" sz="2800" dirty="0"/>
          </a:p>
          <a:p>
            <a:endParaRPr lang="en-IN" dirty="0"/>
          </a:p>
        </p:txBody>
      </p:sp>
    </p:spTree>
    <p:extLst>
      <p:ext uri="{BB962C8B-B14F-4D97-AF65-F5344CB8AC3E}">
        <p14:creationId xmlns:p14="http://schemas.microsoft.com/office/powerpoint/2010/main" val="41974783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4BB93B-A45B-DE5F-3A52-32B08458A7DE}"/>
              </a:ext>
            </a:extLst>
          </p:cNvPr>
          <p:cNvSpPr>
            <a:spLocks noGrp="1"/>
          </p:cNvSpPr>
          <p:nvPr>
            <p:ph type="title"/>
          </p:nvPr>
        </p:nvSpPr>
        <p:spPr>
          <a:xfrm>
            <a:off x="838200" y="365125"/>
            <a:ext cx="10515600" cy="843189"/>
          </a:xfrm>
        </p:spPr>
        <p:txBody>
          <a:bodyPr>
            <a:normAutofit/>
          </a:bodyPr>
          <a:lstStyle/>
          <a:p>
            <a:pPr algn="ctr"/>
            <a:r>
              <a:rPr lang="en-IN" dirty="0"/>
              <a:t>ML - Ensemble Learning</a:t>
            </a:r>
          </a:p>
        </p:txBody>
      </p:sp>
      <p:pic>
        <p:nvPicPr>
          <p:cNvPr id="4100" name="Picture 4" descr="Bagging &amp; Boosting - Encord">
            <a:extLst>
              <a:ext uri="{FF2B5EF4-FFF2-40B4-BE49-F238E27FC236}">
                <a16:creationId xmlns:a16="http://schemas.microsoft.com/office/drawing/2014/main" id="{D8F533C5-1A8A-9404-D16C-90E9FB0E8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257" y="1491343"/>
            <a:ext cx="6085113" cy="4495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3EB6706-149B-7F9D-1AC4-4E48CF7CA702}"/>
              </a:ext>
            </a:extLst>
          </p:cNvPr>
          <p:cNvPicPr>
            <a:picLocks noChangeAspect="1"/>
          </p:cNvPicPr>
          <p:nvPr/>
        </p:nvPicPr>
        <p:blipFill>
          <a:blip r:embed="rId3"/>
          <a:stretch>
            <a:fillRect/>
          </a:stretch>
        </p:blipFill>
        <p:spPr>
          <a:xfrm>
            <a:off x="130630" y="1583418"/>
            <a:ext cx="5684775" cy="4909457"/>
          </a:xfrm>
          <a:prstGeom prst="rect">
            <a:avLst/>
          </a:prstGeom>
        </p:spPr>
      </p:pic>
    </p:spTree>
    <p:extLst>
      <p:ext uri="{BB962C8B-B14F-4D97-AF65-F5344CB8AC3E}">
        <p14:creationId xmlns:p14="http://schemas.microsoft.com/office/powerpoint/2010/main" val="29045784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0EEEC-63F1-8561-8E7E-2324FB28C750}"/>
              </a:ext>
            </a:extLst>
          </p:cNvPr>
          <p:cNvSpPr>
            <a:spLocks noGrp="1"/>
          </p:cNvSpPr>
          <p:nvPr>
            <p:ph type="title"/>
          </p:nvPr>
        </p:nvSpPr>
        <p:spPr>
          <a:xfrm>
            <a:off x="947057" y="163286"/>
            <a:ext cx="10515600" cy="614589"/>
          </a:xfrm>
        </p:spPr>
        <p:txBody>
          <a:bodyPr>
            <a:normAutofit fontScale="90000"/>
          </a:bodyPr>
          <a:lstStyle/>
          <a:p>
            <a:pPr algn="ctr"/>
            <a:r>
              <a:rPr lang="en-IN" dirty="0"/>
              <a:t>ML</a:t>
            </a:r>
          </a:p>
        </p:txBody>
      </p:sp>
      <p:sp>
        <p:nvSpPr>
          <p:cNvPr id="3" name="Content Placeholder 2">
            <a:extLst>
              <a:ext uri="{FF2B5EF4-FFF2-40B4-BE49-F238E27FC236}">
                <a16:creationId xmlns:a16="http://schemas.microsoft.com/office/drawing/2014/main" id="{B81657A2-1CC0-8EE7-6A2A-BFA0AED4301E}"/>
              </a:ext>
            </a:extLst>
          </p:cNvPr>
          <p:cNvSpPr>
            <a:spLocks noGrp="1"/>
          </p:cNvSpPr>
          <p:nvPr>
            <p:ph idx="1"/>
          </p:nvPr>
        </p:nvSpPr>
        <p:spPr>
          <a:xfrm>
            <a:off x="391885" y="630463"/>
            <a:ext cx="11408229" cy="6080126"/>
          </a:xfrm>
        </p:spPr>
        <p:txBody>
          <a:bodyPr>
            <a:noAutofit/>
          </a:bodyPr>
          <a:lstStyle/>
          <a:p>
            <a:pPr marL="0" indent="0">
              <a:lnSpc>
                <a:spcPct val="100000"/>
              </a:lnSpc>
              <a:buNone/>
            </a:pPr>
            <a:r>
              <a:rPr lang="en-US" sz="2200" dirty="0">
                <a:solidFill>
                  <a:srgbClr val="FF0000"/>
                </a:solidFill>
              </a:rPr>
              <a:t>Discovery-based Learning</a:t>
            </a:r>
          </a:p>
          <a:p>
            <a:pPr>
              <a:lnSpc>
                <a:spcPct val="100000"/>
              </a:lnSpc>
            </a:pPr>
            <a:r>
              <a:rPr lang="en-US" sz="2200" dirty="0"/>
              <a:t>In case of discovery learning the learning, takes place without any help of teacher or supervisor.</a:t>
            </a:r>
          </a:p>
          <a:p>
            <a:pPr>
              <a:lnSpc>
                <a:spcPct val="100000"/>
              </a:lnSpc>
            </a:pPr>
            <a:r>
              <a:rPr lang="en-US" sz="2200" dirty="0"/>
              <a:t> It is called unsupervised.</a:t>
            </a:r>
          </a:p>
          <a:p>
            <a:pPr>
              <a:lnSpc>
                <a:spcPct val="100000"/>
              </a:lnSpc>
            </a:pPr>
            <a:r>
              <a:rPr lang="en-US" sz="2200" dirty="0"/>
              <a:t> It can be said to be inquiry-based learning, where the learner on the basis of past experience and knowledge tries to discover the outcomes.</a:t>
            </a:r>
          </a:p>
          <a:p>
            <a:pPr marL="0" indent="0">
              <a:lnSpc>
                <a:spcPct val="100000"/>
              </a:lnSpc>
              <a:buNone/>
            </a:pPr>
            <a:r>
              <a:rPr lang="en-US" sz="2200" dirty="0">
                <a:solidFill>
                  <a:srgbClr val="FF0000"/>
                </a:solidFill>
              </a:rPr>
              <a:t>Learning by Problem Solving</a:t>
            </a:r>
          </a:p>
          <a:p>
            <a:pPr>
              <a:lnSpc>
                <a:spcPct val="100000"/>
              </a:lnSpc>
            </a:pPr>
            <a:r>
              <a:rPr lang="en-US" sz="2200" dirty="0"/>
              <a:t>In learning from problem solving, various parameters related to solution and problem are considered.</a:t>
            </a:r>
          </a:p>
          <a:p>
            <a:pPr>
              <a:lnSpc>
                <a:spcPct val="100000"/>
              </a:lnSpc>
            </a:pPr>
            <a:r>
              <a:rPr lang="en-US" sz="2200" dirty="0"/>
              <a:t> These parameters are used and effectively desirability of a particular outcome or decision is determined.</a:t>
            </a:r>
          </a:p>
          <a:p>
            <a:pPr>
              <a:lnSpc>
                <a:spcPct val="100000"/>
              </a:lnSpc>
            </a:pPr>
            <a:r>
              <a:rPr lang="en-US" sz="2200" dirty="0"/>
              <a:t> It is typically based on the way a problem is solved and the outcomes at every step.</a:t>
            </a:r>
          </a:p>
          <a:p>
            <a:pPr>
              <a:lnSpc>
                <a:spcPct val="100000"/>
              </a:lnSpc>
            </a:pPr>
            <a:r>
              <a:rPr lang="en-US" sz="2200" dirty="0"/>
              <a:t> Even in pattern-based decision- making, the correct category is determined based on the previous results.</a:t>
            </a:r>
            <a:endParaRPr lang="en-IN" sz="2200" dirty="0"/>
          </a:p>
        </p:txBody>
      </p:sp>
    </p:spTree>
    <p:extLst>
      <p:ext uri="{BB962C8B-B14F-4D97-AF65-F5344CB8AC3E}">
        <p14:creationId xmlns:p14="http://schemas.microsoft.com/office/powerpoint/2010/main" val="18668594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89B3-1C76-F5FB-2C75-1B3CC781052A}"/>
              </a:ext>
            </a:extLst>
          </p:cNvPr>
          <p:cNvSpPr>
            <a:spLocks noGrp="1"/>
          </p:cNvSpPr>
          <p:nvPr>
            <p:ph type="title"/>
          </p:nvPr>
        </p:nvSpPr>
        <p:spPr>
          <a:xfrm>
            <a:off x="838200" y="365126"/>
            <a:ext cx="10515600" cy="875846"/>
          </a:xfrm>
        </p:spPr>
        <p:txBody>
          <a:bodyPr/>
          <a:lstStyle/>
          <a:p>
            <a:pPr algn="ctr"/>
            <a:r>
              <a:rPr lang="en-IN" dirty="0"/>
              <a:t>ML - Learning Methods</a:t>
            </a:r>
          </a:p>
        </p:txBody>
      </p:sp>
      <p:sp>
        <p:nvSpPr>
          <p:cNvPr id="3" name="Content Placeholder 2">
            <a:extLst>
              <a:ext uri="{FF2B5EF4-FFF2-40B4-BE49-F238E27FC236}">
                <a16:creationId xmlns:a16="http://schemas.microsoft.com/office/drawing/2014/main" id="{7B984F24-8D8B-CD07-CD62-5636AFA15FF9}"/>
              </a:ext>
            </a:extLst>
          </p:cNvPr>
          <p:cNvSpPr>
            <a:spLocks noGrp="1"/>
          </p:cNvSpPr>
          <p:nvPr>
            <p:ph idx="1"/>
          </p:nvPr>
        </p:nvSpPr>
        <p:spPr>
          <a:xfrm>
            <a:off x="838200" y="1796143"/>
            <a:ext cx="10515600" cy="4380820"/>
          </a:xfrm>
        </p:spPr>
        <p:txBody>
          <a:bodyPr>
            <a:normAutofit/>
          </a:bodyPr>
          <a:lstStyle/>
          <a:p>
            <a:r>
              <a:rPr lang="en-US" dirty="0"/>
              <a:t>Artificial neural network-based learning - Back propagation</a:t>
            </a:r>
          </a:p>
          <a:p>
            <a:r>
              <a:rPr lang="en-US" dirty="0"/>
              <a:t>Support vector machines</a:t>
            </a:r>
          </a:p>
          <a:p>
            <a:r>
              <a:rPr lang="en-US" dirty="0"/>
              <a:t>Reinforcement learning</a:t>
            </a:r>
          </a:p>
          <a:p>
            <a:r>
              <a:rPr lang="en-US" dirty="0"/>
              <a:t>Adaptive learning</a:t>
            </a:r>
          </a:p>
          <a:p>
            <a:r>
              <a:rPr lang="en-US" dirty="0"/>
              <a:t>Multi agent based learning</a:t>
            </a:r>
          </a:p>
          <a:p>
            <a:r>
              <a:rPr lang="en-US" dirty="0"/>
              <a:t>Distributed learning</a:t>
            </a:r>
          </a:p>
          <a:p>
            <a:r>
              <a:rPr lang="en-US" dirty="0"/>
              <a:t>Speedup learning</a:t>
            </a:r>
            <a:endParaRPr lang="en-IN" dirty="0"/>
          </a:p>
        </p:txBody>
      </p:sp>
    </p:spTree>
    <p:extLst>
      <p:ext uri="{BB962C8B-B14F-4D97-AF65-F5344CB8AC3E}">
        <p14:creationId xmlns:p14="http://schemas.microsoft.com/office/powerpoint/2010/main" val="2966385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16F0E-C1D8-9B9A-9F57-0CF2EBEE2F9A}"/>
              </a:ext>
            </a:extLst>
          </p:cNvPr>
          <p:cNvSpPr>
            <a:spLocks noGrp="1"/>
          </p:cNvSpPr>
          <p:nvPr>
            <p:ph type="title"/>
          </p:nvPr>
        </p:nvSpPr>
        <p:spPr/>
        <p:txBody>
          <a:bodyPr/>
          <a:lstStyle/>
          <a:p>
            <a:pPr algn="ctr"/>
            <a:r>
              <a:rPr lang="en-US" dirty="0"/>
              <a:t>Artificial neural network based learning</a:t>
            </a:r>
            <a:endParaRPr lang="en-IN" dirty="0"/>
          </a:p>
        </p:txBody>
      </p:sp>
      <p:sp>
        <p:nvSpPr>
          <p:cNvPr id="3" name="Content Placeholder 2">
            <a:extLst>
              <a:ext uri="{FF2B5EF4-FFF2-40B4-BE49-F238E27FC236}">
                <a16:creationId xmlns:a16="http://schemas.microsoft.com/office/drawing/2014/main" id="{D646F80E-7417-F924-A050-DF9451A0CBED}"/>
              </a:ext>
            </a:extLst>
          </p:cNvPr>
          <p:cNvSpPr>
            <a:spLocks noGrp="1"/>
          </p:cNvSpPr>
          <p:nvPr>
            <p:ph idx="1"/>
          </p:nvPr>
        </p:nvSpPr>
        <p:spPr/>
        <p:txBody>
          <a:bodyPr>
            <a:normAutofit/>
          </a:bodyPr>
          <a:lstStyle/>
          <a:p>
            <a:r>
              <a:rPr lang="en-US" dirty="0"/>
              <a:t>An Artificial Neural Network (ANN) is a computational model inspired by the human brain’s neural structure.</a:t>
            </a:r>
          </a:p>
          <a:p>
            <a:r>
              <a:rPr lang="en-US" dirty="0"/>
              <a:t> It consists of interconnected nodes (neurons) organized into layers.</a:t>
            </a:r>
          </a:p>
          <a:p>
            <a:r>
              <a:rPr lang="en-US" dirty="0"/>
              <a:t> Information flows through these nodes, and the network adjusts the connection strengths (weights) during training to learn from data, enabling it to recognize patterns, make predictions, and solve various tasks in machine learning and artificial intelligence.</a:t>
            </a:r>
            <a:endParaRPr lang="en-IN" dirty="0"/>
          </a:p>
        </p:txBody>
      </p:sp>
    </p:spTree>
    <p:extLst>
      <p:ext uri="{BB962C8B-B14F-4D97-AF65-F5344CB8AC3E}">
        <p14:creationId xmlns:p14="http://schemas.microsoft.com/office/powerpoint/2010/main" val="4011777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A1D78-8BB5-3656-439A-D7AC0F3671FE}"/>
              </a:ext>
            </a:extLst>
          </p:cNvPr>
          <p:cNvSpPr>
            <a:spLocks noGrp="1"/>
          </p:cNvSpPr>
          <p:nvPr>
            <p:ph type="title"/>
          </p:nvPr>
        </p:nvSpPr>
        <p:spPr>
          <a:xfrm>
            <a:off x="876693" y="251535"/>
            <a:ext cx="10705707" cy="804380"/>
          </a:xfrm>
        </p:spPr>
        <p:txBody>
          <a:bodyPr anchor="b">
            <a:normAutofit/>
          </a:bodyPr>
          <a:lstStyle/>
          <a:p>
            <a:pPr algn="ctr"/>
            <a:r>
              <a:rPr lang="en-IN" sz="3200" dirty="0"/>
              <a:t>ANN - Back propagation Algorithm</a:t>
            </a:r>
          </a:p>
        </p:txBody>
      </p:sp>
      <p:sp>
        <p:nvSpPr>
          <p:cNvPr id="3" name="Content Placeholder 2">
            <a:extLst>
              <a:ext uri="{FF2B5EF4-FFF2-40B4-BE49-F238E27FC236}">
                <a16:creationId xmlns:a16="http://schemas.microsoft.com/office/drawing/2014/main" id="{CE69028A-8275-DC90-B883-D5D95AE57D5A}"/>
              </a:ext>
            </a:extLst>
          </p:cNvPr>
          <p:cNvSpPr>
            <a:spLocks noGrp="1"/>
          </p:cNvSpPr>
          <p:nvPr>
            <p:ph idx="1"/>
          </p:nvPr>
        </p:nvSpPr>
        <p:spPr>
          <a:xfrm>
            <a:off x="533401" y="1186543"/>
            <a:ext cx="4343400" cy="4794765"/>
          </a:xfrm>
        </p:spPr>
        <p:txBody>
          <a:bodyPr anchor="t">
            <a:normAutofit/>
          </a:bodyPr>
          <a:lstStyle/>
          <a:p>
            <a:r>
              <a:rPr lang="en-US" sz="2400" dirty="0"/>
              <a:t>Back-propagation is the essence of neural net training.</a:t>
            </a:r>
          </a:p>
          <a:p>
            <a:r>
              <a:rPr lang="en-US" sz="2400" dirty="0"/>
              <a:t>It is the method of fine-tuning the weights of a neural net based on the error rate obtained in the previous epoch (i.e., iteration).</a:t>
            </a:r>
          </a:p>
          <a:p>
            <a:r>
              <a:rPr lang="en-US" sz="2400" dirty="0"/>
              <a:t>Proper tuning of the weights allows you to reduce error rates and to make the model reliable by increasing its generalization.</a:t>
            </a:r>
            <a:endParaRPr lang="en-IN" sz="2400" dirty="0"/>
          </a:p>
        </p:txBody>
      </p:sp>
      <p:pic>
        <p:nvPicPr>
          <p:cNvPr id="4" name="Picture 3">
            <a:extLst>
              <a:ext uri="{FF2B5EF4-FFF2-40B4-BE49-F238E27FC236}">
                <a16:creationId xmlns:a16="http://schemas.microsoft.com/office/drawing/2014/main" id="{1D55ABB0-3DE4-22B7-A97B-1BF168E4824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987672" y="1397051"/>
            <a:ext cx="6389346" cy="4073207"/>
          </a:xfrm>
          <a:prstGeom prst="rect">
            <a:avLst/>
          </a:prstGeom>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34527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D24BF-871B-4993-076B-2467DC8A862A}"/>
              </a:ext>
            </a:extLst>
          </p:cNvPr>
          <p:cNvSpPr>
            <a:spLocks noGrp="1"/>
          </p:cNvSpPr>
          <p:nvPr>
            <p:ph type="title"/>
          </p:nvPr>
        </p:nvSpPr>
        <p:spPr>
          <a:xfrm>
            <a:off x="838200" y="365125"/>
            <a:ext cx="10515600" cy="698565"/>
          </a:xfrm>
        </p:spPr>
        <p:txBody>
          <a:bodyPr>
            <a:normAutofit fontScale="90000"/>
          </a:bodyPr>
          <a:lstStyle/>
          <a:p>
            <a:pPr algn="ctr"/>
            <a:r>
              <a:rPr lang="en-IN" dirty="0"/>
              <a:t>ANN - Back propagation Algorithm</a:t>
            </a:r>
          </a:p>
        </p:txBody>
      </p:sp>
      <p:sp>
        <p:nvSpPr>
          <p:cNvPr id="3" name="Content Placeholder 2">
            <a:extLst>
              <a:ext uri="{FF2B5EF4-FFF2-40B4-BE49-F238E27FC236}">
                <a16:creationId xmlns:a16="http://schemas.microsoft.com/office/drawing/2014/main" id="{CF68A6C8-9E36-8C0C-8EFF-0497D07D56EC}"/>
              </a:ext>
            </a:extLst>
          </p:cNvPr>
          <p:cNvSpPr>
            <a:spLocks noGrp="1"/>
          </p:cNvSpPr>
          <p:nvPr>
            <p:ph idx="1"/>
          </p:nvPr>
        </p:nvSpPr>
        <p:spPr>
          <a:xfrm>
            <a:off x="838200" y="1063690"/>
            <a:ext cx="10515600" cy="5113273"/>
          </a:xfrm>
        </p:spPr>
        <p:txBody>
          <a:bodyPr>
            <a:normAutofit/>
          </a:bodyPr>
          <a:lstStyle/>
          <a:p>
            <a:pPr marL="0" indent="0">
              <a:buNone/>
            </a:pPr>
            <a:r>
              <a:rPr lang="en-US" dirty="0"/>
              <a:t>1.Inputs X, arrive through the preconnected path</a:t>
            </a:r>
          </a:p>
          <a:p>
            <a:pPr marL="0" indent="0">
              <a:buNone/>
            </a:pPr>
            <a:r>
              <a:rPr lang="en-US" dirty="0"/>
              <a:t>2. Input is modeled using real weights W. The weights are usually randomly selected.</a:t>
            </a:r>
          </a:p>
          <a:p>
            <a:pPr marL="0" indent="0">
              <a:buNone/>
            </a:pPr>
            <a:r>
              <a:rPr lang="en-US" dirty="0"/>
              <a:t>3. Calculate the output for every neuron from the input layer, to the hidden layers, to the output layer.</a:t>
            </a:r>
          </a:p>
          <a:p>
            <a:pPr marL="0" indent="0">
              <a:buNone/>
            </a:pPr>
            <a:r>
              <a:rPr lang="en-US" dirty="0"/>
              <a:t>4. Calculate the error in the outputs.</a:t>
            </a:r>
          </a:p>
          <a:p>
            <a:pPr marL="0" indent="0">
              <a:buNone/>
            </a:pPr>
            <a:r>
              <a:rPr lang="en-US" dirty="0" err="1"/>
              <a:t>ErrorB</a:t>
            </a:r>
            <a:r>
              <a:rPr lang="en-US" dirty="0"/>
              <a:t>= Actual Output – Desired Output</a:t>
            </a:r>
          </a:p>
          <a:p>
            <a:pPr marL="0" indent="0">
              <a:buNone/>
            </a:pPr>
            <a:r>
              <a:rPr lang="en-US" dirty="0"/>
              <a:t>5. Travel back from the output layer to the hidden layer to adjust the weights such that the error is decreased.</a:t>
            </a:r>
          </a:p>
          <a:p>
            <a:pPr marL="0" indent="0">
              <a:buNone/>
            </a:pPr>
            <a:r>
              <a:rPr lang="en-US" dirty="0"/>
              <a:t>6. Keep repeating the process until the desired output is achieved.</a:t>
            </a:r>
            <a:endParaRPr lang="en-IN" dirty="0"/>
          </a:p>
        </p:txBody>
      </p:sp>
    </p:spTree>
    <p:extLst>
      <p:ext uri="{BB962C8B-B14F-4D97-AF65-F5344CB8AC3E}">
        <p14:creationId xmlns:p14="http://schemas.microsoft.com/office/powerpoint/2010/main" val="41111167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7760B-0CEB-A2DB-AA1A-0BCB3F3F6C0C}"/>
              </a:ext>
            </a:extLst>
          </p:cNvPr>
          <p:cNvSpPr>
            <a:spLocks noGrp="1"/>
          </p:cNvSpPr>
          <p:nvPr>
            <p:ph type="title"/>
          </p:nvPr>
        </p:nvSpPr>
        <p:spPr>
          <a:xfrm>
            <a:off x="838200" y="147412"/>
            <a:ext cx="10515600" cy="801202"/>
          </a:xfrm>
        </p:spPr>
        <p:txBody>
          <a:bodyPr/>
          <a:lstStyle/>
          <a:p>
            <a:pPr algn="ctr"/>
            <a:r>
              <a:rPr lang="en-IN" dirty="0"/>
              <a:t>Support Vector Machine (SVM)</a:t>
            </a:r>
          </a:p>
        </p:txBody>
      </p:sp>
      <p:sp>
        <p:nvSpPr>
          <p:cNvPr id="3" name="Content Placeholder 2">
            <a:extLst>
              <a:ext uri="{FF2B5EF4-FFF2-40B4-BE49-F238E27FC236}">
                <a16:creationId xmlns:a16="http://schemas.microsoft.com/office/drawing/2014/main" id="{C9CD3C68-863A-B1FB-B7BF-AD61870B17E8}"/>
              </a:ext>
            </a:extLst>
          </p:cNvPr>
          <p:cNvSpPr>
            <a:spLocks noGrp="1"/>
          </p:cNvSpPr>
          <p:nvPr>
            <p:ph idx="1"/>
          </p:nvPr>
        </p:nvSpPr>
        <p:spPr>
          <a:xfrm>
            <a:off x="339114" y="1054359"/>
            <a:ext cx="5756886" cy="5122604"/>
          </a:xfrm>
        </p:spPr>
        <p:txBody>
          <a:bodyPr>
            <a:normAutofit lnSpcReduction="10000"/>
          </a:bodyPr>
          <a:lstStyle/>
          <a:p>
            <a:r>
              <a:rPr lang="en-US" dirty="0"/>
              <a:t>Support vector machines (SVM) are supervised learning models with associated learning algorithms that analyze data used for classification and regression analysis.</a:t>
            </a:r>
          </a:p>
          <a:p>
            <a:pPr marL="0" indent="0">
              <a:buNone/>
            </a:pPr>
            <a:r>
              <a:rPr lang="en-US" dirty="0"/>
              <a:t>• It is a machine learning approach.</a:t>
            </a:r>
          </a:p>
          <a:p>
            <a:pPr marL="0" indent="0">
              <a:buNone/>
            </a:pPr>
            <a:r>
              <a:rPr lang="en-US" dirty="0"/>
              <a:t>• They analyze the large amount of data to identify patterns from them.</a:t>
            </a:r>
          </a:p>
          <a:p>
            <a:pPr marL="0" indent="0">
              <a:buNone/>
            </a:pPr>
            <a:r>
              <a:rPr lang="en-US" dirty="0"/>
              <a:t>• SVMs are based on the idea of finding a hyperplane that best divides a dataset into two classes, as shown in the image below.</a:t>
            </a:r>
            <a:endParaRPr lang="en-IN" dirty="0"/>
          </a:p>
        </p:txBody>
      </p:sp>
      <p:pic>
        <p:nvPicPr>
          <p:cNvPr id="5" name="Picture 4">
            <a:extLst>
              <a:ext uri="{FF2B5EF4-FFF2-40B4-BE49-F238E27FC236}">
                <a16:creationId xmlns:a16="http://schemas.microsoft.com/office/drawing/2014/main" id="{4AAB3602-BA5A-6108-C694-9E66D243D68A}"/>
              </a:ext>
            </a:extLst>
          </p:cNvPr>
          <p:cNvPicPr>
            <a:picLocks noChangeAspect="1"/>
          </p:cNvPicPr>
          <p:nvPr/>
        </p:nvPicPr>
        <p:blipFill>
          <a:blip r:embed="rId2"/>
          <a:stretch>
            <a:fillRect/>
          </a:stretch>
        </p:blipFill>
        <p:spPr>
          <a:xfrm>
            <a:off x="6215954" y="1600199"/>
            <a:ext cx="5756886" cy="4576763"/>
          </a:xfrm>
          <a:prstGeom prst="rect">
            <a:avLst/>
          </a:prstGeom>
        </p:spPr>
      </p:pic>
    </p:spTree>
    <p:extLst>
      <p:ext uri="{BB962C8B-B14F-4D97-AF65-F5344CB8AC3E}">
        <p14:creationId xmlns:p14="http://schemas.microsoft.com/office/powerpoint/2010/main" val="34719163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C771-3209-1039-8906-057CEFD2DA87}"/>
              </a:ext>
            </a:extLst>
          </p:cNvPr>
          <p:cNvSpPr>
            <a:spLocks noGrp="1"/>
          </p:cNvSpPr>
          <p:nvPr>
            <p:ph type="title"/>
          </p:nvPr>
        </p:nvSpPr>
        <p:spPr>
          <a:xfrm>
            <a:off x="838200" y="365126"/>
            <a:ext cx="10515600" cy="661242"/>
          </a:xfrm>
        </p:spPr>
        <p:txBody>
          <a:bodyPr>
            <a:normAutofit fontScale="90000"/>
          </a:bodyPr>
          <a:lstStyle/>
          <a:p>
            <a:pPr algn="ctr"/>
            <a:r>
              <a:rPr lang="en-US" dirty="0"/>
              <a:t>Identify the right hyperplane (Scenario-1):</a:t>
            </a:r>
            <a:endParaRPr lang="en-IN" dirty="0"/>
          </a:p>
        </p:txBody>
      </p:sp>
      <p:sp>
        <p:nvSpPr>
          <p:cNvPr id="3" name="Content Placeholder 2">
            <a:extLst>
              <a:ext uri="{FF2B5EF4-FFF2-40B4-BE49-F238E27FC236}">
                <a16:creationId xmlns:a16="http://schemas.microsoft.com/office/drawing/2014/main" id="{BAC4CCE5-17A3-D7A8-83BE-17ED086A616E}"/>
              </a:ext>
            </a:extLst>
          </p:cNvPr>
          <p:cNvSpPr>
            <a:spLocks noGrp="1"/>
          </p:cNvSpPr>
          <p:nvPr>
            <p:ph idx="1"/>
          </p:nvPr>
        </p:nvSpPr>
        <p:spPr>
          <a:xfrm>
            <a:off x="838200" y="1194318"/>
            <a:ext cx="10515600" cy="4982645"/>
          </a:xfrm>
        </p:spPr>
        <p:txBody>
          <a:bodyPr/>
          <a:lstStyle/>
          <a:p>
            <a:r>
              <a:rPr lang="en-US" dirty="0"/>
              <a:t>Here, we have three hyperplanes (A, B and C). Now, identify the right hyperplane to classify star and circle.</a:t>
            </a:r>
          </a:p>
          <a:p>
            <a:endParaRPr lang="en-IN" dirty="0"/>
          </a:p>
        </p:txBody>
      </p:sp>
      <p:pic>
        <p:nvPicPr>
          <p:cNvPr id="5" name="Picture 4">
            <a:extLst>
              <a:ext uri="{FF2B5EF4-FFF2-40B4-BE49-F238E27FC236}">
                <a16:creationId xmlns:a16="http://schemas.microsoft.com/office/drawing/2014/main" id="{054D7BE1-78B0-4754-3EF9-705AD8090F7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515695" y="2176447"/>
            <a:ext cx="4202275" cy="2968342"/>
          </a:xfrm>
          <a:prstGeom prst="rect">
            <a:avLst/>
          </a:prstGeom>
        </p:spPr>
      </p:pic>
      <p:sp>
        <p:nvSpPr>
          <p:cNvPr id="7" name="TextBox 6">
            <a:extLst>
              <a:ext uri="{FF2B5EF4-FFF2-40B4-BE49-F238E27FC236}">
                <a16:creationId xmlns:a16="http://schemas.microsoft.com/office/drawing/2014/main" id="{EC45C903-62E7-62CD-14AE-F7B4FEF272E5}"/>
              </a:ext>
            </a:extLst>
          </p:cNvPr>
          <p:cNvSpPr txBox="1"/>
          <p:nvPr/>
        </p:nvSpPr>
        <p:spPr>
          <a:xfrm>
            <a:off x="1749489" y="5312739"/>
            <a:ext cx="8504854" cy="461665"/>
          </a:xfrm>
          <a:prstGeom prst="rect">
            <a:avLst/>
          </a:prstGeom>
          <a:noFill/>
        </p:spPr>
        <p:txBody>
          <a:bodyPr wrap="square">
            <a:spAutoFit/>
          </a:bodyPr>
          <a:lstStyle/>
          <a:p>
            <a:r>
              <a:rPr lang="en-IN" sz="2400" dirty="0"/>
              <a:t>Hyperplane “B” has excellently performed this job.</a:t>
            </a:r>
          </a:p>
        </p:txBody>
      </p:sp>
    </p:spTree>
    <p:extLst>
      <p:ext uri="{BB962C8B-B14F-4D97-AF65-F5344CB8AC3E}">
        <p14:creationId xmlns:p14="http://schemas.microsoft.com/office/powerpoint/2010/main" val="29738236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6A11-C99C-3083-BAA7-DAB2CF1E7B54}"/>
              </a:ext>
            </a:extLst>
          </p:cNvPr>
          <p:cNvSpPr>
            <a:spLocks noGrp="1"/>
          </p:cNvSpPr>
          <p:nvPr>
            <p:ph type="title"/>
          </p:nvPr>
        </p:nvSpPr>
        <p:spPr>
          <a:xfrm>
            <a:off x="838200" y="365126"/>
            <a:ext cx="10515600" cy="558606"/>
          </a:xfrm>
        </p:spPr>
        <p:txBody>
          <a:bodyPr>
            <a:normAutofit fontScale="90000"/>
          </a:bodyPr>
          <a:lstStyle/>
          <a:p>
            <a:pPr algn="ctr"/>
            <a:r>
              <a:rPr lang="en-US" dirty="0"/>
              <a:t>Identify the right hyperplane (Scenario-2):</a:t>
            </a:r>
            <a:endParaRPr lang="en-IN" dirty="0"/>
          </a:p>
        </p:txBody>
      </p:sp>
      <p:sp>
        <p:nvSpPr>
          <p:cNvPr id="3" name="Content Placeholder 2">
            <a:extLst>
              <a:ext uri="{FF2B5EF4-FFF2-40B4-BE49-F238E27FC236}">
                <a16:creationId xmlns:a16="http://schemas.microsoft.com/office/drawing/2014/main" id="{739A50BC-D87A-270B-D7AA-C4C71794E8A8}"/>
              </a:ext>
            </a:extLst>
          </p:cNvPr>
          <p:cNvSpPr>
            <a:spLocks noGrp="1"/>
          </p:cNvSpPr>
          <p:nvPr>
            <p:ph idx="1"/>
          </p:nvPr>
        </p:nvSpPr>
        <p:spPr>
          <a:xfrm>
            <a:off x="838200" y="1012372"/>
            <a:ext cx="10515600" cy="5164592"/>
          </a:xfrm>
        </p:spPr>
        <p:txBody>
          <a:bodyPr/>
          <a:lstStyle/>
          <a:p>
            <a:r>
              <a:rPr lang="en-US" dirty="0"/>
              <a:t>Here, we have three hyperplanes (A, B and C) and all are segregating the classes well. Now, how can we identify the right hyperplane?</a:t>
            </a:r>
          </a:p>
          <a:p>
            <a:endParaRPr lang="en-IN" dirty="0"/>
          </a:p>
        </p:txBody>
      </p:sp>
      <p:pic>
        <p:nvPicPr>
          <p:cNvPr id="5" name="Picture 4">
            <a:extLst>
              <a:ext uri="{FF2B5EF4-FFF2-40B4-BE49-F238E27FC236}">
                <a16:creationId xmlns:a16="http://schemas.microsoft.com/office/drawing/2014/main" id="{40FB1C7D-C5D1-CB58-39A2-4C38B8ED4E7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38199" y="2227900"/>
            <a:ext cx="4212771" cy="2191692"/>
          </a:xfrm>
          <a:prstGeom prst="rect">
            <a:avLst/>
          </a:prstGeom>
        </p:spPr>
      </p:pic>
      <p:sp>
        <p:nvSpPr>
          <p:cNvPr id="7" name="TextBox 6">
            <a:extLst>
              <a:ext uri="{FF2B5EF4-FFF2-40B4-BE49-F238E27FC236}">
                <a16:creationId xmlns:a16="http://schemas.microsoft.com/office/drawing/2014/main" id="{2E7191AD-22A8-62D6-9C79-4AAC3CABF966}"/>
              </a:ext>
            </a:extLst>
          </p:cNvPr>
          <p:cNvSpPr txBox="1"/>
          <p:nvPr/>
        </p:nvSpPr>
        <p:spPr>
          <a:xfrm>
            <a:off x="5312229" y="2227900"/>
            <a:ext cx="6553200" cy="4616648"/>
          </a:xfrm>
          <a:prstGeom prst="rect">
            <a:avLst/>
          </a:prstGeom>
          <a:noFill/>
        </p:spPr>
        <p:txBody>
          <a:bodyPr wrap="square">
            <a:spAutoFit/>
          </a:bodyPr>
          <a:lstStyle/>
          <a:p>
            <a:pPr marL="285750" indent="-285750">
              <a:buFont typeface="Arial" panose="020B0604020202020204" pitchFamily="34" charset="0"/>
              <a:buChar char="•"/>
            </a:pPr>
            <a:r>
              <a:rPr lang="en-IN" sz="2300" dirty="0"/>
              <a:t>Here, maximizing the distances between nearest</a:t>
            </a:r>
          </a:p>
          <a:p>
            <a:r>
              <a:rPr lang="en-IN" sz="2300" dirty="0"/>
              <a:t>data point (either class) and hyperplane will help us to decide the right hyperplane.</a:t>
            </a:r>
          </a:p>
          <a:p>
            <a:pPr marL="285750" indent="-285750">
              <a:buFont typeface="Arial" panose="020B0604020202020204" pitchFamily="34" charset="0"/>
              <a:buChar char="•"/>
            </a:pPr>
            <a:r>
              <a:rPr lang="en-US" sz="2300" dirty="0"/>
              <a:t>This distance is called as Margin. Let’s look at the second fig</a:t>
            </a:r>
          </a:p>
          <a:p>
            <a:pPr marL="285750" indent="-285750">
              <a:buFont typeface="Arial" panose="020B0604020202020204" pitchFamily="34" charset="0"/>
              <a:buChar char="•"/>
            </a:pPr>
            <a:r>
              <a:rPr lang="en-US" sz="2300" dirty="0"/>
              <a:t>We can see that the margin for hyperplane C is high as compared to both A and B. Hence, we name the right hyperplane as C. </a:t>
            </a:r>
          </a:p>
          <a:p>
            <a:pPr marL="285750" indent="-285750">
              <a:buFont typeface="Arial" panose="020B0604020202020204" pitchFamily="34" charset="0"/>
              <a:buChar char="•"/>
            </a:pPr>
            <a:r>
              <a:rPr lang="en-US" sz="2300" dirty="0"/>
              <a:t>Another reason for selecting the hyperplane with higher margin is robustness. If we select a hyperplane having low margin then there is high chance of misclassification.</a:t>
            </a:r>
          </a:p>
          <a:p>
            <a:endParaRPr lang="en-IN" dirty="0"/>
          </a:p>
        </p:txBody>
      </p:sp>
      <p:pic>
        <p:nvPicPr>
          <p:cNvPr id="9" name="Picture 8">
            <a:extLst>
              <a:ext uri="{FF2B5EF4-FFF2-40B4-BE49-F238E27FC236}">
                <a16:creationId xmlns:a16="http://schemas.microsoft.com/office/drawing/2014/main" id="{ABBCA335-A44D-4181-F8BE-4C48EB47D5B4}"/>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94396" y="4419591"/>
            <a:ext cx="4051775" cy="2329551"/>
          </a:xfrm>
          <a:prstGeom prst="rect">
            <a:avLst/>
          </a:prstGeom>
        </p:spPr>
      </p:pic>
    </p:spTree>
    <p:extLst>
      <p:ext uri="{BB962C8B-B14F-4D97-AF65-F5344CB8AC3E}">
        <p14:creationId xmlns:p14="http://schemas.microsoft.com/office/powerpoint/2010/main" val="18773462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3BB10-8627-034E-5B06-C953DE626BDB}"/>
              </a:ext>
            </a:extLst>
          </p:cNvPr>
          <p:cNvSpPr>
            <a:spLocks noGrp="1"/>
          </p:cNvSpPr>
          <p:nvPr>
            <p:ph type="title"/>
          </p:nvPr>
        </p:nvSpPr>
        <p:spPr>
          <a:xfrm>
            <a:off x="838200" y="365125"/>
            <a:ext cx="10515600" cy="698565"/>
          </a:xfrm>
        </p:spPr>
        <p:txBody>
          <a:bodyPr>
            <a:normAutofit fontScale="90000"/>
          </a:bodyPr>
          <a:lstStyle/>
          <a:p>
            <a:pPr algn="ctr"/>
            <a:r>
              <a:rPr lang="en-IN" dirty="0"/>
              <a:t>Reinforcement Learning</a:t>
            </a:r>
          </a:p>
        </p:txBody>
      </p:sp>
      <p:sp>
        <p:nvSpPr>
          <p:cNvPr id="3" name="Content Placeholder 2">
            <a:extLst>
              <a:ext uri="{FF2B5EF4-FFF2-40B4-BE49-F238E27FC236}">
                <a16:creationId xmlns:a16="http://schemas.microsoft.com/office/drawing/2014/main" id="{21ECC316-A001-EEE1-08B3-D4D433B5C339}"/>
              </a:ext>
            </a:extLst>
          </p:cNvPr>
          <p:cNvSpPr>
            <a:spLocks noGrp="1"/>
          </p:cNvSpPr>
          <p:nvPr>
            <p:ph idx="1"/>
          </p:nvPr>
        </p:nvSpPr>
        <p:spPr>
          <a:xfrm>
            <a:off x="838200" y="1063690"/>
            <a:ext cx="10515600" cy="5113273"/>
          </a:xfrm>
        </p:spPr>
        <p:txBody>
          <a:bodyPr/>
          <a:lstStyle/>
          <a:p>
            <a:r>
              <a:rPr lang="en-US" dirty="0"/>
              <a:t>Learning from interaction with an environment to achieve some long-term goal that is related to the state of the environment</a:t>
            </a:r>
          </a:p>
          <a:p>
            <a:pPr marL="0" indent="0">
              <a:buNone/>
            </a:pPr>
            <a:r>
              <a:rPr lang="en-US" dirty="0"/>
              <a:t>• The goal is defined by reward signal, which must be </a:t>
            </a:r>
            <a:r>
              <a:rPr lang="en-US" dirty="0" err="1"/>
              <a:t>maximised</a:t>
            </a:r>
            <a:r>
              <a:rPr lang="en-US" dirty="0"/>
              <a:t>.</a:t>
            </a:r>
          </a:p>
          <a:p>
            <a:pPr marL="0" indent="0">
              <a:buNone/>
            </a:pPr>
            <a:r>
              <a:rPr lang="en-US" dirty="0"/>
              <a:t>• Agent must be able to partially/fully sense the environment state and take actions to influence the environment state</a:t>
            </a:r>
          </a:p>
          <a:p>
            <a:pPr marL="0" indent="0">
              <a:buNone/>
            </a:pPr>
            <a:r>
              <a:rPr lang="en-US" dirty="0"/>
              <a:t>• The state is typically described with a feature vector</a:t>
            </a:r>
            <a:endParaRPr lang="en-IN" dirty="0"/>
          </a:p>
        </p:txBody>
      </p:sp>
      <p:pic>
        <p:nvPicPr>
          <p:cNvPr id="5" name="Picture 4">
            <a:extLst>
              <a:ext uri="{FF2B5EF4-FFF2-40B4-BE49-F238E27FC236}">
                <a16:creationId xmlns:a16="http://schemas.microsoft.com/office/drawing/2014/main" id="{32EE18F3-323A-5BAF-09DE-8A956FC26FED}"/>
              </a:ext>
            </a:extLst>
          </p:cNvPr>
          <p:cNvPicPr>
            <a:picLocks noChangeAspect="1"/>
          </p:cNvPicPr>
          <p:nvPr/>
        </p:nvPicPr>
        <p:blipFill>
          <a:blip r:embed="rId2"/>
          <a:stretch>
            <a:fillRect/>
          </a:stretch>
        </p:blipFill>
        <p:spPr>
          <a:xfrm>
            <a:off x="2794569" y="3799317"/>
            <a:ext cx="5326174" cy="3005002"/>
          </a:xfrm>
          <a:prstGeom prst="rect">
            <a:avLst/>
          </a:prstGeom>
        </p:spPr>
      </p:pic>
    </p:spTree>
    <p:extLst>
      <p:ext uri="{BB962C8B-B14F-4D97-AF65-F5344CB8AC3E}">
        <p14:creationId xmlns:p14="http://schemas.microsoft.com/office/powerpoint/2010/main" val="31053555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07A6B-CF09-79C4-FAD4-C9AE8609DF91}"/>
              </a:ext>
            </a:extLst>
          </p:cNvPr>
          <p:cNvSpPr>
            <a:spLocks noGrp="1"/>
          </p:cNvSpPr>
          <p:nvPr>
            <p:ph type="title"/>
          </p:nvPr>
        </p:nvSpPr>
        <p:spPr>
          <a:xfrm>
            <a:off x="838200" y="365126"/>
            <a:ext cx="10515600" cy="679904"/>
          </a:xfrm>
        </p:spPr>
        <p:txBody>
          <a:bodyPr>
            <a:normAutofit fontScale="90000"/>
          </a:bodyPr>
          <a:lstStyle/>
          <a:p>
            <a:pPr algn="ctr"/>
            <a:r>
              <a:rPr lang="en-IN" dirty="0"/>
              <a:t>Reinforcement Learning Systems</a:t>
            </a:r>
          </a:p>
        </p:txBody>
      </p:sp>
      <p:sp>
        <p:nvSpPr>
          <p:cNvPr id="3" name="Content Placeholder 2">
            <a:extLst>
              <a:ext uri="{FF2B5EF4-FFF2-40B4-BE49-F238E27FC236}">
                <a16:creationId xmlns:a16="http://schemas.microsoft.com/office/drawing/2014/main" id="{6383BD6D-B45C-606D-6429-945EDBAA949B}"/>
              </a:ext>
            </a:extLst>
          </p:cNvPr>
          <p:cNvSpPr>
            <a:spLocks noGrp="1"/>
          </p:cNvSpPr>
          <p:nvPr>
            <p:ph idx="1"/>
          </p:nvPr>
        </p:nvSpPr>
        <p:spPr>
          <a:xfrm>
            <a:off x="838200" y="1119673"/>
            <a:ext cx="10515600" cy="5607698"/>
          </a:xfrm>
        </p:spPr>
        <p:txBody>
          <a:bodyPr>
            <a:normAutofit fontScale="85000" lnSpcReduction="20000"/>
          </a:bodyPr>
          <a:lstStyle/>
          <a:p>
            <a:r>
              <a:rPr lang="en-US" dirty="0"/>
              <a:t>Reinforcement learning systems have 4 main elements:</a:t>
            </a:r>
          </a:p>
          <a:p>
            <a:pPr marL="0" indent="0">
              <a:buNone/>
            </a:pPr>
            <a:r>
              <a:rPr lang="en-US" dirty="0">
                <a:solidFill>
                  <a:srgbClr val="C00000"/>
                </a:solidFill>
              </a:rPr>
              <a:t>1.Policy</a:t>
            </a:r>
            <a:r>
              <a:rPr lang="en-US" dirty="0"/>
              <a:t>-A policy is a mapping from the perceived states of the environment to actions to be taken when in those states</a:t>
            </a:r>
          </a:p>
          <a:p>
            <a:pPr marL="0" indent="0">
              <a:buNone/>
            </a:pPr>
            <a:r>
              <a:rPr lang="en-US" dirty="0"/>
              <a:t>• A reinforcement learning agent uses a policy to select actions given the current environment state</a:t>
            </a:r>
          </a:p>
          <a:p>
            <a:r>
              <a:rPr lang="en-US" dirty="0"/>
              <a:t>An on-policy agent learns only about the policy that it is executing</a:t>
            </a:r>
          </a:p>
          <a:p>
            <a:pPr marL="0" indent="0">
              <a:buNone/>
            </a:pPr>
            <a:r>
              <a:rPr lang="en-US" dirty="0"/>
              <a:t>• An off-policy agent learns about a policy or policies different from the one that it is executing.</a:t>
            </a:r>
          </a:p>
          <a:p>
            <a:pPr marL="0" indent="0">
              <a:buNone/>
            </a:pPr>
            <a:r>
              <a:rPr lang="en-US" dirty="0">
                <a:solidFill>
                  <a:srgbClr val="C00000"/>
                </a:solidFill>
              </a:rPr>
              <a:t>2. Reward signal</a:t>
            </a:r>
          </a:p>
          <a:p>
            <a:r>
              <a:rPr lang="en-US" dirty="0"/>
              <a:t>The reward signal defines the goal</a:t>
            </a:r>
          </a:p>
          <a:p>
            <a:pPr marL="0" indent="0">
              <a:buNone/>
            </a:pPr>
            <a:r>
              <a:rPr lang="en-US" dirty="0"/>
              <a:t>• On each time step, the environment sends a single number called the reward to the reinforcement learning agent,</a:t>
            </a:r>
          </a:p>
          <a:p>
            <a:pPr marL="0" indent="0">
              <a:buNone/>
            </a:pPr>
            <a:r>
              <a:rPr lang="en-US" dirty="0"/>
              <a:t>• The agent’s objective is to maximize the total reward that it receives over the long run</a:t>
            </a:r>
          </a:p>
          <a:p>
            <a:pPr marL="0" indent="0">
              <a:buNone/>
            </a:pPr>
            <a:r>
              <a:rPr lang="en-US" dirty="0"/>
              <a:t>• The reward signal is used to alter the policy</a:t>
            </a:r>
          </a:p>
        </p:txBody>
      </p:sp>
    </p:spTree>
    <p:extLst>
      <p:ext uri="{BB962C8B-B14F-4D97-AF65-F5344CB8AC3E}">
        <p14:creationId xmlns:p14="http://schemas.microsoft.com/office/powerpoint/2010/main" val="23729092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C0B5-422F-A8B9-F5B8-B3103C203B62}"/>
              </a:ext>
            </a:extLst>
          </p:cNvPr>
          <p:cNvSpPr>
            <a:spLocks noGrp="1"/>
          </p:cNvSpPr>
          <p:nvPr>
            <p:ph type="title"/>
          </p:nvPr>
        </p:nvSpPr>
        <p:spPr>
          <a:xfrm>
            <a:off x="838200" y="365126"/>
            <a:ext cx="10515600" cy="381324"/>
          </a:xfrm>
        </p:spPr>
        <p:txBody>
          <a:bodyPr>
            <a:normAutofit fontScale="90000"/>
          </a:bodyPr>
          <a:lstStyle/>
          <a:p>
            <a:pPr algn="ctr"/>
            <a:r>
              <a:rPr lang="en-IN" dirty="0"/>
              <a:t>Reinforcement Learning Systems</a:t>
            </a:r>
          </a:p>
        </p:txBody>
      </p:sp>
      <p:sp>
        <p:nvSpPr>
          <p:cNvPr id="3" name="Content Placeholder 2">
            <a:extLst>
              <a:ext uri="{FF2B5EF4-FFF2-40B4-BE49-F238E27FC236}">
                <a16:creationId xmlns:a16="http://schemas.microsoft.com/office/drawing/2014/main" id="{F102C824-44BA-AC03-A8CB-E13FA9E9F2BE}"/>
              </a:ext>
            </a:extLst>
          </p:cNvPr>
          <p:cNvSpPr>
            <a:spLocks noGrp="1"/>
          </p:cNvSpPr>
          <p:nvPr>
            <p:ph idx="1"/>
          </p:nvPr>
        </p:nvSpPr>
        <p:spPr>
          <a:xfrm>
            <a:off x="838200" y="858416"/>
            <a:ext cx="10515600" cy="5634458"/>
          </a:xfrm>
        </p:spPr>
        <p:txBody>
          <a:bodyPr>
            <a:normAutofit lnSpcReduction="10000"/>
          </a:bodyPr>
          <a:lstStyle/>
          <a:p>
            <a:pPr marL="0" indent="0">
              <a:buNone/>
            </a:pPr>
            <a:r>
              <a:rPr lang="en-US" sz="3300" dirty="0">
                <a:solidFill>
                  <a:srgbClr val="C00000"/>
                </a:solidFill>
              </a:rPr>
              <a:t>3.Value function</a:t>
            </a:r>
          </a:p>
          <a:p>
            <a:pPr marL="0" indent="0">
              <a:buNone/>
            </a:pPr>
            <a:r>
              <a:rPr lang="en-US" dirty="0"/>
              <a:t>• The value of a state is the total amount of reward an agent can expect to accumulate over the future, starting in that state.</a:t>
            </a:r>
          </a:p>
          <a:p>
            <a:pPr marL="0" indent="0">
              <a:buNone/>
            </a:pPr>
            <a:r>
              <a:rPr lang="en-US" dirty="0"/>
              <a:t>• Values must continually be re-estimated from the sequence of observations that an agent makes over its lifetime.</a:t>
            </a:r>
          </a:p>
          <a:p>
            <a:pPr marL="0" indent="0">
              <a:buNone/>
            </a:pPr>
            <a:r>
              <a:rPr lang="en-US" dirty="0">
                <a:solidFill>
                  <a:srgbClr val="C00000"/>
                </a:solidFill>
              </a:rPr>
              <a:t>4. Optional model of the environment</a:t>
            </a:r>
          </a:p>
          <a:p>
            <a:r>
              <a:rPr lang="en-US" dirty="0"/>
              <a:t>A model of the environment allows inferences to be made about how the environment will behave.</a:t>
            </a:r>
          </a:p>
          <a:p>
            <a:pPr marL="0" indent="0">
              <a:buNone/>
            </a:pPr>
            <a:r>
              <a:rPr lang="en-US" dirty="0"/>
              <a:t>• </a:t>
            </a:r>
            <a:r>
              <a:rPr lang="en-US" dirty="0">
                <a:solidFill>
                  <a:srgbClr val="FF0000"/>
                </a:solidFill>
              </a:rPr>
              <a:t>Example:</a:t>
            </a:r>
            <a:r>
              <a:rPr lang="en-US" dirty="0"/>
              <a:t> Given a state and an action to be taken while in that state, the model could predict the next state and the next reward.</a:t>
            </a:r>
          </a:p>
          <a:p>
            <a:pPr marL="0" indent="0">
              <a:buNone/>
            </a:pPr>
            <a:r>
              <a:rPr lang="en-US" dirty="0"/>
              <a:t>• Models are used for planning, which means deciding on a course of action by considering possible future situations before they are experienced</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4232817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3A08E-A448-A213-671A-02BFBE787920}"/>
              </a:ext>
            </a:extLst>
          </p:cNvPr>
          <p:cNvSpPr>
            <a:spLocks noGrp="1"/>
          </p:cNvSpPr>
          <p:nvPr>
            <p:ph type="title"/>
          </p:nvPr>
        </p:nvSpPr>
        <p:spPr>
          <a:xfrm>
            <a:off x="838200" y="365125"/>
            <a:ext cx="10515600" cy="642581"/>
          </a:xfrm>
        </p:spPr>
        <p:txBody>
          <a:bodyPr>
            <a:normAutofit fontScale="90000"/>
          </a:bodyPr>
          <a:lstStyle/>
          <a:p>
            <a:pPr algn="ctr"/>
            <a:r>
              <a:rPr lang="en-IN" dirty="0"/>
              <a:t>Adaptive learning</a:t>
            </a:r>
          </a:p>
        </p:txBody>
      </p:sp>
      <p:sp>
        <p:nvSpPr>
          <p:cNvPr id="3" name="Content Placeholder 2">
            <a:extLst>
              <a:ext uri="{FF2B5EF4-FFF2-40B4-BE49-F238E27FC236}">
                <a16:creationId xmlns:a16="http://schemas.microsoft.com/office/drawing/2014/main" id="{22BE4288-9A24-CD15-98DD-02764FE6526B}"/>
              </a:ext>
            </a:extLst>
          </p:cNvPr>
          <p:cNvSpPr>
            <a:spLocks noGrp="1"/>
          </p:cNvSpPr>
          <p:nvPr>
            <p:ph idx="1"/>
          </p:nvPr>
        </p:nvSpPr>
        <p:spPr>
          <a:xfrm>
            <a:off x="838200" y="1709057"/>
            <a:ext cx="10515600" cy="4467906"/>
          </a:xfrm>
        </p:spPr>
        <p:txBody>
          <a:bodyPr>
            <a:normAutofit/>
          </a:bodyPr>
          <a:lstStyle/>
          <a:p>
            <a:pPr marL="0" indent="0">
              <a:buNone/>
            </a:pPr>
            <a:r>
              <a:rPr lang="en-US" dirty="0"/>
              <a:t>• Adaptive machine learning algorithms are the machine learning models, where the changes in the environment help in selecting the algorithm or learning method.</a:t>
            </a:r>
          </a:p>
          <a:p>
            <a:pPr marL="0" indent="0">
              <a:buNone/>
            </a:pPr>
            <a:r>
              <a:rPr lang="en-US" dirty="0"/>
              <a:t>• The adaptive learning solves some of the complex problems for which a single learning method is not enough.</a:t>
            </a:r>
          </a:p>
          <a:p>
            <a:pPr marL="0" indent="0">
              <a:buNone/>
            </a:pPr>
            <a:r>
              <a:rPr lang="en-US" dirty="0"/>
              <a:t>• This method is even more appropriate when the environment is continuously changing and real time response is expected.</a:t>
            </a:r>
          </a:p>
          <a:p>
            <a:pPr marL="0" indent="0">
              <a:buNone/>
            </a:pPr>
            <a:endParaRPr lang="en-IN" dirty="0"/>
          </a:p>
        </p:txBody>
      </p:sp>
    </p:spTree>
    <p:extLst>
      <p:ext uri="{BB962C8B-B14F-4D97-AF65-F5344CB8AC3E}">
        <p14:creationId xmlns:p14="http://schemas.microsoft.com/office/powerpoint/2010/main" val="3923010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9AE24-BD53-FED3-971B-1FF9167FF319}"/>
              </a:ext>
            </a:extLst>
          </p:cNvPr>
          <p:cNvSpPr>
            <a:spLocks noGrp="1"/>
          </p:cNvSpPr>
          <p:nvPr>
            <p:ph type="title"/>
          </p:nvPr>
        </p:nvSpPr>
        <p:spPr>
          <a:xfrm>
            <a:off x="838200" y="256268"/>
            <a:ext cx="10515600" cy="577267"/>
          </a:xfrm>
        </p:spPr>
        <p:txBody>
          <a:bodyPr>
            <a:normAutofit fontScale="90000"/>
          </a:bodyPr>
          <a:lstStyle/>
          <a:p>
            <a:pPr algn="ctr"/>
            <a:r>
              <a:rPr lang="en-US" dirty="0"/>
              <a:t>Multi-Agent System</a:t>
            </a:r>
            <a:endParaRPr lang="en-IN" dirty="0"/>
          </a:p>
        </p:txBody>
      </p:sp>
      <p:sp>
        <p:nvSpPr>
          <p:cNvPr id="3" name="Content Placeholder 2">
            <a:extLst>
              <a:ext uri="{FF2B5EF4-FFF2-40B4-BE49-F238E27FC236}">
                <a16:creationId xmlns:a16="http://schemas.microsoft.com/office/drawing/2014/main" id="{BE537E77-5C34-9CCC-EB23-01189D150D0D}"/>
              </a:ext>
            </a:extLst>
          </p:cNvPr>
          <p:cNvSpPr>
            <a:spLocks noGrp="1"/>
          </p:cNvSpPr>
          <p:nvPr>
            <p:ph idx="1"/>
          </p:nvPr>
        </p:nvSpPr>
        <p:spPr>
          <a:xfrm>
            <a:off x="283028" y="1045028"/>
            <a:ext cx="6520543" cy="5671457"/>
          </a:xfrm>
        </p:spPr>
        <p:txBody>
          <a:bodyPr>
            <a:normAutofit lnSpcReduction="10000"/>
          </a:bodyPr>
          <a:lstStyle/>
          <a:p>
            <a:r>
              <a:rPr lang="en-US" dirty="0"/>
              <a:t>A system with multiple autonomous entities, with distributed information, computational ability, and possibly divergent interests.</a:t>
            </a:r>
          </a:p>
          <a:p>
            <a:r>
              <a:rPr lang="en-US" dirty="0"/>
              <a:t>A multiagent system is one that consists of a number of agents, which interact with one-another</a:t>
            </a:r>
          </a:p>
          <a:p>
            <a:r>
              <a:rPr lang="en-US" dirty="0"/>
              <a:t> In the most general case, agents will be acting on behalf of users with different goals and motivations</a:t>
            </a:r>
          </a:p>
          <a:p>
            <a:r>
              <a:rPr lang="en-US" dirty="0"/>
              <a:t> To successfully interact, they will require the ability to cooperate, coordinate, and negotiate with each other, much as people do</a:t>
            </a:r>
            <a:endParaRPr lang="en-IN" dirty="0"/>
          </a:p>
        </p:txBody>
      </p:sp>
      <p:pic>
        <p:nvPicPr>
          <p:cNvPr id="4" name="Content Placeholder 4">
            <a:extLst>
              <a:ext uri="{FF2B5EF4-FFF2-40B4-BE49-F238E27FC236}">
                <a16:creationId xmlns:a16="http://schemas.microsoft.com/office/drawing/2014/main" id="{71A04F76-3725-27B4-7F82-9FC3AF9AEF68}"/>
              </a:ext>
            </a:extLst>
          </p:cNvPr>
          <p:cNvPicPr>
            <a:picLocks noChangeAspect="1"/>
          </p:cNvPicPr>
          <p:nvPr/>
        </p:nvPicPr>
        <p:blipFill>
          <a:blip r:embed="rId2"/>
          <a:stretch>
            <a:fillRect/>
          </a:stretch>
        </p:blipFill>
        <p:spPr>
          <a:xfrm>
            <a:off x="7017802" y="1477054"/>
            <a:ext cx="5014395" cy="4325032"/>
          </a:xfrm>
          <a:prstGeom prst="rect">
            <a:avLst/>
          </a:prstGeom>
        </p:spPr>
      </p:pic>
    </p:spTree>
    <p:extLst>
      <p:ext uri="{BB962C8B-B14F-4D97-AF65-F5344CB8AC3E}">
        <p14:creationId xmlns:p14="http://schemas.microsoft.com/office/powerpoint/2010/main" val="776229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AC274-0FCC-3AA1-4D3F-D59C8D71416A}"/>
              </a:ext>
            </a:extLst>
          </p:cNvPr>
          <p:cNvSpPr>
            <a:spLocks noGrp="1"/>
          </p:cNvSpPr>
          <p:nvPr>
            <p:ph type="title"/>
          </p:nvPr>
        </p:nvSpPr>
        <p:spPr>
          <a:xfrm>
            <a:off x="838200" y="365125"/>
            <a:ext cx="10515600" cy="698565"/>
          </a:xfrm>
        </p:spPr>
        <p:txBody>
          <a:bodyPr>
            <a:normAutofit fontScale="90000"/>
          </a:bodyPr>
          <a:lstStyle/>
          <a:p>
            <a:pPr algn="ctr"/>
            <a:r>
              <a:rPr lang="en-IN" dirty="0"/>
              <a:t>Distributed learning</a:t>
            </a:r>
          </a:p>
        </p:txBody>
      </p:sp>
      <p:sp>
        <p:nvSpPr>
          <p:cNvPr id="3" name="Content Placeholder 2">
            <a:extLst>
              <a:ext uri="{FF2B5EF4-FFF2-40B4-BE49-F238E27FC236}">
                <a16:creationId xmlns:a16="http://schemas.microsoft.com/office/drawing/2014/main" id="{991E6C8F-8EAF-D2BD-76BD-0941ACBAC3B2}"/>
              </a:ext>
            </a:extLst>
          </p:cNvPr>
          <p:cNvSpPr>
            <a:spLocks noGrp="1"/>
          </p:cNvSpPr>
          <p:nvPr>
            <p:ph idx="1"/>
          </p:nvPr>
        </p:nvSpPr>
        <p:spPr>
          <a:xfrm>
            <a:off x="381000" y="1282959"/>
            <a:ext cx="5932714" cy="4926661"/>
          </a:xfrm>
        </p:spPr>
        <p:txBody>
          <a:bodyPr>
            <a:normAutofit fontScale="92500" lnSpcReduction="10000"/>
          </a:bodyPr>
          <a:lstStyle/>
          <a:p>
            <a:r>
              <a:rPr lang="en-US" dirty="0"/>
              <a:t>In distributed learning the task of learning is distributed.</a:t>
            </a:r>
          </a:p>
          <a:p>
            <a:r>
              <a:rPr lang="en-US" dirty="0"/>
              <a:t>Need for distributed learning - Arises due to large data sets and time constraints.</a:t>
            </a:r>
          </a:p>
          <a:p>
            <a:r>
              <a:rPr lang="en-US" dirty="0"/>
              <a:t> More than one agent in different parts of the data set.</a:t>
            </a:r>
          </a:p>
          <a:p>
            <a:r>
              <a:rPr lang="en-US" dirty="0"/>
              <a:t> There will be distributed learning algorithms taken part in each partition to get the desired outcome, which would then be combined.</a:t>
            </a:r>
          </a:p>
          <a:p>
            <a:r>
              <a:rPr lang="en-US" dirty="0"/>
              <a:t> Multi agent systems can be thought of as a subset of distributed learning.</a:t>
            </a:r>
          </a:p>
        </p:txBody>
      </p:sp>
      <p:sp>
        <p:nvSpPr>
          <p:cNvPr id="5" name="AutoShape 4" descr="Diagram of data parallelism showing the model copied into worker nodes.">
            <a:extLst>
              <a:ext uri="{FF2B5EF4-FFF2-40B4-BE49-F238E27FC236}">
                <a16:creationId xmlns:a16="http://schemas.microsoft.com/office/drawing/2014/main" id="{B8FA5483-B97B-744B-0F79-32BB7A507F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Diagram of data parallelism showing the model copied into worker nodes.">
            <a:extLst>
              <a:ext uri="{FF2B5EF4-FFF2-40B4-BE49-F238E27FC236}">
                <a16:creationId xmlns:a16="http://schemas.microsoft.com/office/drawing/2014/main" id="{A8D7173F-8EB4-3B05-DBF9-A2108A30CD3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4E542285-F5C8-E624-F6C0-4FD4F0564AAC}"/>
              </a:ext>
            </a:extLst>
          </p:cNvPr>
          <p:cNvPicPr>
            <a:picLocks noChangeAspect="1"/>
          </p:cNvPicPr>
          <p:nvPr/>
        </p:nvPicPr>
        <p:blipFill>
          <a:blip r:embed="rId2"/>
          <a:stretch>
            <a:fillRect/>
          </a:stretch>
        </p:blipFill>
        <p:spPr>
          <a:xfrm>
            <a:off x="6510443" y="1796594"/>
            <a:ext cx="5518271" cy="4157892"/>
          </a:xfrm>
          <a:prstGeom prst="rect">
            <a:avLst/>
          </a:prstGeom>
        </p:spPr>
      </p:pic>
    </p:spTree>
    <p:extLst>
      <p:ext uri="{BB962C8B-B14F-4D97-AF65-F5344CB8AC3E}">
        <p14:creationId xmlns:p14="http://schemas.microsoft.com/office/powerpoint/2010/main" val="29315389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9442-EB18-82ED-AFD4-339D580094A2}"/>
              </a:ext>
            </a:extLst>
          </p:cNvPr>
          <p:cNvSpPr>
            <a:spLocks noGrp="1"/>
          </p:cNvSpPr>
          <p:nvPr>
            <p:ph type="title"/>
          </p:nvPr>
        </p:nvSpPr>
        <p:spPr>
          <a:xfrm>
            <a:off x="1049693" y="246420"/>
            <a:ext cx="10515600" cy="735887"/>
          </a:xfrm>
        </p:spPr>
        <p:txBody>
          <a:bodyPr/>
          <a:lstStyle/>
          <a:p>
            <a:pPr algn="ctr"/>
            <a:r>
              <a:rPr lang="en-IN" dirty="0"/>
              <a:t>Speedup learning</a:t>
            </a:r>
          </a:p>
        </p:txBody>
      </p:sp>
      <p:sp>
        <p:nvSpPr>
          <p:cNvPr id="3" name="Content Placeholder 2">
            <a:extLst>
              <a:ext uri="{FF2B5EF4-FFF2-40B4-BE49-F238E27FC236}">
                <a16:creationId xmlns:a16="http://schemas.microsoft.com/office/drawing/2014/main" id="{8801488A-511F-7E9D-6937-2E963E7C8663}"/>
              </a:ext>
            </a:extLst>
          </p:cNvPr>
          <p:cNvSpPr>
            <a:spLocks noGrp="1"/>
          </p:cNvSpPr>
          <p:nvPr>
            <p:ph idx="1"/>
          </p:nvPr>
        </p:nvSpPr>
        <p:spPr>
          <a:xfrm>
            <a:off x="545841" y="1014276"/>
            <a:ext cx="11210729" cy="4881564"/>
          </a:xfrm>
        </p:spPr>
        <p:txBody>
          <a:bodyPr>
            <a:normAutofit lnSpcReduction="10000"/>
          </a:bodyPr>
          <a:lstStyle/>
          <a:p>
            <a:r>
              <a:rPr lang="en-US" sz="2600" dirty="0"/>
              <a:t>Speedup learning studies learning mechanisms for speeding up problem solvers based on problem-solving experience. </a:t>
            </a:r>
          </a:p>
          <a:p>
            <a:r>
              <a:rPr lang="en-US" sz="2600" dirty="0"/>
              <a:t>The input to a speedup learner typically consists of observations of prior problem-solving experience, which may include traces of the problem solver’s operations and/or solutions to solve the problems. </a:t>
            </a:r>
          </a:p>
          <a:p>
            <a:r>
              <a:rPr lang="en-US" sz="2600" dirty="0"/>
              <a:t>The output is knowledge that the problem solver can exploit to find solutions more quickly than before learning without seriously effecting the solution quality. </a:t>
            </a:r>
          </a:p>
          <a:p>
            <a:r>
              <a:rPr lang="en-US" sz="2600" dirty="0"/>
              <a:t>In this learning,</a:t>
            </a:r>
          </a:p>
          <a:p>
            <a:pPr marL="514350" indent="-514350">
              <a:buAutoNum type="arabicPeriod"/>
            </a:pPr>
            <a:r>
              <a:rPr lang="en-US" sz="2600" dirty="0"/>
              <a:t>There is no interaction with the</a:t>
            </a:r>
          </a:p>
          <a:p>
            <a:pPr marL="0" indent="0">
              <a:buNone/>
            </a:pPr>
            <a:r>
              <a:rPr lang="en-US" sz="2600" dirty="0"/>
              <a:t>        environment.</a:t>
            </a:r>
          </a:p>
          <a:p>
            <a:pPr marL="0" indent="0">
              <a:buNone/>
            </a:pPr>
            <a:r>
              <a:rPr lang="en-US" sz="2600" dirty="0"/>
              <a:t>2. New problems cannot be solved.</a:t>
            </a:r>
          </a:p>
        </p:txBody>
      </p:sp>
      <p:pic>
        <p:nvPicPr>
          <p:cNvPr id="7" name="Picture 6">
            <a:extLst>
              <a:ext uri="{FF2B5EF4-FFF2-40B4-BE49-F238E27FC236}">
                <a16:creationId xmlns:a16="http://schemas.microsoft.com/office/drawing/2014/main" id="{B278A6F6-7021-6CBF-676B-CCF15DED887B}"/>
              </a:ext>
            </a:extLst>
          </p:cNvPr>
          <p:cNvPicPr>
            <a:picLocks noChangeAspect="1"/>
          </p:cNvPicPr>
          <p:nvPr/>
        </p:nvPicPr>
        <p:blipFill>
          <a:blip r:embed="rId2"/>
          <a:stretch>
            <a:fillRect/>
          </a:stretch>
        </p:blipFill>
        <p:spPr>
          <a:xfrm>
            <a:off x="5821503" y="3817482"/>
            <a:ext cx="5935067" cy="2594204"/>
          </a:xfrm>
          <a:prstGeom prst="rect">
            <a:avLst/>
          </a:prstGeom>
        </p:spPr>
      </p:pic>
    </p:spTree>
    <p:extLst>
      <p:ext uri="{BB962C8B-B14F-4D97-AF65-F5344CB8AC3E}">
        <p14:creationId xmlns:p14="http://schemas.microsoft.com/office/powerpoint/2010/main" val="20159823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F8D7-B84B-1165-9D26-ECBD7399C9F4}"/>
              </a:ext>
            </a:extLst>
          </p:cNvPr>
          <p:cNvSpPr>
            <a:spLocks noGrp="1"/>
          </p:cNvSpPr>
          <p:nvPr>
            <p:ph type="title"/>
          </p:nvPr>
        </p:nvSpPr>
        <p:spPr>
          <a:xfrm>
            <a:off x="838200" y="365126"/>
            <a:ext cx="10515600" cy="821418"/>
          </a:xfrm>
        </p:spPr>
        <p:txBody>
          <a:bodyPr/>
          <a:lstStyle/>
          <a:p>
            <a:pPr algn="ctr"/>
            <a:r>
              <a:rPr lang="en-IN" dirty="0"/>
              <a:t>Expert System</a:t>
            </a:r>
          </a:p>
        </p:txBody>
      </p:sp>
      <p:sp>
        <p:nvSpPr>
          <p:cNvPr id="3" name="Content Placeholder 2">
            <a:extLst>
              <a:ext uri="{FF2B5EF4-FFF2-40B4-BE49-F238E27FC236}">
                <a16:creationId xmlns:a16="http://schemas.microsoft.com/office/drawing/2014/main" id="{30403D4E-6196-250E-7540-EC9269758846}"/>
              </a:ext>
            </a:extLst>
          </p:cNvPr>
          <p:cNvSpPr>
            <a:spLocks noGrp="1"/>
          </p:cNvSpPr>
          <p:nvPr>
            <p:ph idx="1"/>
          </p:nvPr>
        </p:nvSpPr>
        <p:spPr>
          <a:xfrm>
            <a:off x="838200" y="1480457"/>
            <a:ext cx="10515600" cy="4696506"/>
          </a:xfrm>
        </p:spPr>
        <p:txBody>
          <a:bodyPr/>
          <a:lstStyle/>
          <a:p>
            <a:r>
              <a:rPr lang="en-US" dirty="0"/>
              <a:t>An expert system is a computer program that is designed to solve complex problems and to provide decision-making ability like a human expert.</a:t>
            </a:r>
          </a:p>
          <a:p>
            <a:r>
              <a:rPr lang="en-US" dirty="0"/>
              <a:t> It performs this by extracting knowledge from its knowledge base using the reasoning and inference rules according to the user queries.</a:t>
            </a:r>
            <a:endParaRPr lang="en-IN" dirty="0"/>
          </a:p>
        </p:txBody>
      </p:sp>
      <p:pic>
        <p:nvPicPr>
          <p:cNvPr id="1026" name="Picture 2" descr="Expert Systems in AI">
            <a:extLst>
              <a:ext uri="{FF2B5EF4-FFF2-40B4-BE49-F238E27FC236}">
                <a16:creationId xmlns:a16="http://schemas.microsoft.com/office/drawing/2014/main" id="{FB7617FA-DD09-A16E-331A-B08274BE91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9286" y="3951513"/>
            <a:ext cx="6891338" cy="2661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5464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B52C-43AA-7C71-4616-2BACACBCB158}"/>
              </a:ext>
            </a:extLst>
          </p:cNvPr>
          <p:cNvSpPr>
            <a:spLocks noGrp="1"/>
          </p:cNvSpPr>
          <p:nvPr>
            <p:ph type="title"/>
          </p:nvPr>
        </p:nvSpPr>
        <p:spPr>
          <a:xfrm>
            <a:off x="838200" y="365125"/>
            <a:ext cx="10515600" cy="1071789"/>
          </a:xfrm>
        </p:spPr>
        <p:txBody>
          <a:bodyPr>
            <a:normAutofit fontScale="90000"/>
          </a:bodyPr>
          <a:lstStyle/>
          <a:p>
            <a:pPr algn="ctr"/>
            <a:br>
              <a:rPr lang="en-US" i="0" dirty="0">
                <a:solidFill>
                  <a:srgbClr val="333333"/>
                </a:solidFill>
                <a:effectLst/>
                <a:highlight>
                  <a:srgbClr val="FFFFFF"/>
                </a:highlight>
                <a:latin typeface="inter-bold"/>
              </a:rPr>
            </a:br>
            <a:r>
              <a:rPr lang="en-US" i="0" dirty="0">
                <a:solidFill>
                  <a:srgbClr val="333333"/>
                </a:solidFill>
                <a:effectLst/>
                <a:highlight>
                  <a:srgbClr val="FFFFFF"/>
                </a:highlight>
                <a:latin typeface="inter-bold"/>
              </a:rPr>
              <a:t>Characteristics of Expert System</a:t>
            </a:r>
            <a:br>
              <a:rPr lang="en-US" i="0" dirty="0">
                <a:solidFill>
                  <a:srgbClr val="333333"/>
                </a:solidFill>
                <a:effectLst/>
                <a:highlight>
                  <a:srgbClr val="FFFFFF"/>
                </a:highlight>
                <a:latin typeface="inter-regular"/>
              </a:rPr>
            </a:br>
            <a:endParaRPr lang="en-IN" dirty="0"/>
          </a:p>
        </p:txBody>
      </p:sp>
      <p:sp>
        <p:nvSpPr>
          <p:cNvPr id="3" name="Content Placeholder 2">
            <a:extLst>
              <a:ext uri="{FF2B5EF4-FFF2-40B4-BE49-F238E27FC236}">
                <a16:creationId xmlns:a16="http://schemas.microsoft.com/office/drawing/2014/main" id="{D73910DF-11E8-1198-8D48-A72E49CD2E75}"/>
              </a:ext>
            </a:extLst>
          </p:cNvPr>
          <p:cNvSpPr>
            <a:spLocks noGrp="1"/>
          </p:cNvSpPr>
          <p:nvPr>
            <p:ph idx="1"/>
          </p:nvPr>
        </p:nvSpPr>
        <p:spPr/>
        <p:txBody>
          <a:bodyPr>
            <a:normAutofit/>
          </a:bodyPr>
          <a:lstStyle/>
          <a:p>
            <a:pPr algn="just">
              <a:buFont typeface="Arial" panose="020B0604020202020204" pitchFamily="34" charset="0"/>
              <a:buChar char="•"/>
            </a:pPr>
            <a:r>
              <a:rPr lang="en-US" b="1" i="0" dirty="0">
                <a:solidFill>
                  <a:srgbClr val="000000"/>
                </a:solidFill>
                <a:effectLst/>
                <a:highlight>
                  <a:srgbClr val="FFFFFF"/>
                </a:highlight>
                <a:latin typeface="inter-bold"/>
              </a:rPr>
              <a:t>High Performance:</a:t>
            </a:r>
            <a:r>
              <a:rPr lang="en-US" b="0" i="0" dirty="0">
                <a:solidFill>
                  <a:srgbClr val="000000"/>
                </a:solidFill>
                <a:effectLst/>
                <a:highlight>
                  <a:srgbClr val="FFFFFF"/>
                </a:highlight>
                <a:latin typeface="inter-regular"/>
              </a:rPr>
              <a:t> The expert system provides high performance for solving any type of complex problem of a specific domain with high efficiency and accuracy.</a:t>
            </a:r>
          </a:p>
          <a:p>
            <a:pPr algn="just">
              <a:buFont typeface="Arial" panose="020B0604020202020204" pitchFamily="34" charset="0"/>
              <a:buChar char="•"/>
            </a:pPr>
            <a:r>
              <a:rPr lang="en-US" b="1" i="0" dirty="0">
                <a:solidFill>
                  <a:srgbClr val="000000"/>
                </a:solidFill>
                <a:effectLst/>
                <a:highlight>
                  <a:srgbClr val="FFFFFF"/>
                </a:highlight>
                <a:latin typeface="inter-bold"/>
              </a:rPr>
              <a:t>Understandable:</a:t>
            </a:r>
            <a:r>
              <a:rPr lang="en-US" b="0" i="0" dirty="0">
                <a:solidFill>
                  <a:srgbClr val="000000"/>
                </a:solidFill>
                <a:effectLst/>
                <a:highlight>
                  <a:srgbClr val="FFFFFF"/>
                </a:highlight>
                <a:latin typeface="inter-regular"/>
              </a:rPr>
              <a:t> It responds in a way that can be easily understandable by the user. It can take input in human language and provides the output in the same way.</a:t>
            </a:r>
          </a:p>
          <a:p>
            <a:pPr algn="just">
              <a:buFont typeface="Arial" panose="020B0604020202020204" pitchFamily="34" charset="0"/>
              <a:buChar char="•"/>
            </a:pPr>
            <a:r>
              <a:rPr lang="en-US" b="1" i="0" dirty="0">
                <a:solidFill>
                  <a:srgbClr val="000000"/>
                </a:solidFill>
                <a:effectLst/>
                <a:highlight>
                  <a:srgbClr val="FFFFFF"/>
                </a:highlight>
                <a:latin typeface="inter-bold"/>
              </a:rPr>
              <a:t>Reliable:</a:t>
            </a:r>
            <a:r>
              <a:rPr lang="en-US" b="0" i="0" dirty="0">
                <a:solidFill>
                  <a:srgbClr val="000000"/>
                </a:solidFill>
                <a:effectLst/>
                <a:highlight>
                  <a:srgbClr val="FFFFFF"/>
                </a:highlight>
                <a:latin typeface="inter-regular"/>
              </a:rPr>
              <a:t> It is much reliable for generating an efficient and accurate output.</a:t>
            </a:r>
          </a:p>
          <a:p>
            <a:pPr algn="just">
              <a:buFont typeface="Arial" panose="020B0604020202020204" pitchFamily="34" charset="0"/>
              <a:buChar char="•"/>
            </a:pPr>
            <a:r>
              <a:rPr lang="en-US" b="1" i="0" dirty="0">
                <a:solidFill>
                  <a:srgbClr val="000000"/>
                </a:solidFill>
                <a:effectLst/>
                <a:highlight>
                  <a:srgbClr val="FFFFFF"/>
                </a:highlight>
                <a:latin typeface="inter-bold"/>
              </a:rPr>
              <a:t>Highly responsive:</a:t>
            </a:r>
            <a:r>
              <a:rPr lang="en-US" b="0" i="0" dirty="0">
                <a:solidFill>
                  <a:srgbClr val="000000"/>
                </a:solidFill>
                <a:effectLst/>
                <a:highlight>
                  <a:srgbClr val="FFFFFF"/>
                </a:highlight>
                <a:latin typeface="inter-regular"/>
              </a:rPr>
              <a:t> ES provides the result for any complex query within a very short period of time.</a:t>
            </a:r>
          </a:p>
          <a:p>
            <a:endParaRPr lang="en-IN" dirty="0"/>
          </a:p>
        </p:txBody>
      </p:sp>
    </p:spTree>
    <p:extLst>
      <p:ext uri="{BB962C8B-B14F-4D97-AF65-F5344CB8AC3E}">
        <p14:creationId xmlns:p14="http://schemas.microsoft.com/office/powerpoint/2010/main" val="12963198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2253-F382-D316-241E-283CBAC85865}"/>
              </a:ext>
            </a:extLst>
          </p:cNvPr>
          <p:cNvSpPr>
            <a:spLocks noGrp="1"/>
          </p:cNvSpPr>
          <p:nvPr>
            <p:ph type="title"/>
          </p:nvPr>
        </p:nvSpPr>
        <p:spPr/>
        <p:txBody>
          <a:bodyPr>
            <a:normAutofit fontScale="90000"/>
          </a:bodyPr>
          <a:lstStyle/>
          <a:p>
            <a:pPr algn="ctr"/>
            <a:br>
              <a:rPr lang="en-IN" b="0" i="0" dirty="0">
                <a:solidFill>
                  <a:srgbClr val="610B4B"/>
                </a:solidFill>
                <a:effectLst/>
                <a:highlight>
                  <a:srgbClr val="FFFFFF"/>
                </a:highlight>
                <a:latin typeface="erdana"/>
              </a:rPr>
            </a:br>
            <a:r>
              <a:rPr lang="en-IN" b="0" i="0" dirty="0">
                <a:solidFill>
                  <a:srgbClr val="610B4B"/>
                </a:solidFill>
                <a:effectLst/>
                <a:highlight>
                  <a:srgbClr val="FFFFFF"/>
                </a:highlight>
                <a:latin typeface="erdana"/>
              </a:rPr>
              <a:t>Components of Expert System</a:t>
            </a:r>
            <a:br>
              <a:rPr lang="en-IN" b="0" i="0" dirty="0">
                <a:solidFill>
                  <a:srgbClr val="610B4B"/>
                </a:solidFill>
                <a:effectLst/>
                <a:highlight>
                  <a:srgbClr val="FFFFFF"/>
                </a:highlight>
                <a:latin typeface="erdana"/>
              </a:rPr>
            </a:br>
            <a:endParaRPr lang="en-IN" dirty="0"/>
          </a:p>
        </p:txBody>
      </p:sp>
      <p:pic>
        <p:nvPicPr>
          <p:cNvPr id="2050" name="Picture 2" descr="Expert Systems in AI">
            <a:extLst>
              <a:ext uri="{FF2B5EF4-FFF2-40B4-BE49-F238E27FC236}">
                <a16:creationId xmlns:a16="http://schemas.microsoft.com/office/drawing/2014/main" id="{AC4AECBC-F35B-CC06-CF43-0DDC294CA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542" y="1426028"/>
            <a:ext cx="9633857" cy="4702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0073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2253-F382-D316-241E-283CBAC85865}"/>
              </a:ext>
            </a:extLst>
          </p:cNvPr>
          <p:cNvSpPr>
            <a:spLocks noGrp="1"/>
          </p:cNvSpPr>
          <p:nvPr>
            <p:ph type="title"/>
          </p:nvPr>
        </p:nvSpPr>
        <p:spPr>
          <a:xfrm>
            <a:off x="838200" y="365126"/>
            <a:ext cx="10515600" cy="669018"/>
          </a:xfrm>
        </p:spPr>
        <p:txBody>
          <a:bodyPr>
            <a:normAutofit fontScale="90000"/>
          </a:bodyPr>
          <a:lstStyle/>
          <a:p>
            <a:pPr algn="ctr"/>
            <a:br>
              <a:rPr lang="en-IN" b="0" i="0" dirty="0">
                <a:solidFill>
                  <a:srgbClr val="610B4B"/>
                </a:solidFill>
                <a:effectLst/>
                <a:highlight>
                  <a:srgbClr val="FFFFFF"/>
                </a:highlight>
                <a:latin typeface="erdana"/>
              </a:rPr>
            </a:br>
            <a:r>
              <a:rPr lang="en-IN" b="0" i="0" dirty="0">
                <a:solidFill>
                  <a:srgbClr val="610B4B"/>
                </a:solidFill>
                <a:effectLst/>
                <a:highlight>
                  <a:srgbClr val="FFFFFF"/>
                </a:highlight>
                <a:latin typeface="erdana"/>
              </a:rPr>
              <a:t>Components of Expert System</a:t>
            </a:r>
            <a:br>
              <a:rPr lang="en-IN" b="0" i="0" dirty="0">
                <a:solidFill>
                  <a:srgbClr val="610B4B"/>
                </a:solidFill>
                <a:effectLst/>
                <a:highlight>
                  <a:srgbClr val="FFFFFF"/>
                </a:highlight>
                <a:latin typeface="erdana"/>
              </a:rPr>
            </a:br>
            <a:endParaRPr lang="en-IN" dirty="0"/>
          </a:p>
        </p:txBody>
      </p:sp>
      <p:sp>
        <p:nvSpPr>
          <p:cNvPr id="3" name="Content Placeholder 2">
            <a:extLst>
              <a:ext uri="{FF2B5EF4-FFF2-40B4-BE49-F238E27FC236}">
                <a16:creationId xmlns:a16="http://schemas.microsoft.com/office/drawing/2014/main" id="{E585A653-246D-1E75-AC57-BE31525CCB4E}"/>
              </a:ext>
            </a:extLst>
          </p:cNvPr>
          <p:cNvSpPr>
            <a:spLocks noGrp="1"/>
          </p:cNvSpPr>
          <p:nvPr>
            <p:ph idx="1"/>
          </p:nvPr>
        </p:nvSpPr>
        <p:spPr>
          <a:xfrm>
            <a:off x="261257" y="1034144"/>
            <a:ext cx="11604171" cy="5671456"/>
          </a:xfrm>
        </p:spPr>
        <p:txBody>
          <a:bodyPr>
            <a:normAutofit fontScale="77500" lnSpcReduction="20000"/>
          </a:bodyPr>
          <a:lstStyle/>
          <a:p>
            <a:pPr marL="0" indent="0">
              <a:buNone/>
            </a:pPr>
            <a:r>
              <a:rPr lang="en-US" dirty="0">
                <a:solidFill>
                  <a:srgbClr val="FF0000"/>
                </a:solidFill>
              </a:rPr>
              <a:t>1. User Interface</a:t>
            </a:r>
          </a:p>
          <a:p>
            <a:r>
              <a:rPr lang="en-US" dirty="0"/>
              <a:t>With the help of a user interface, the expert system interacts with the user, takes queries as an input in a readable format, and passes it to the inference engine.</a:t>
            </a:r>
          </a:p>
          <a:p>
            <a:r>
              <a:rPr lang="en-US" dirty="0"/>
              <a:t> After getting the response from the inference engine, it displays the output to the user. </a:t>
            </a:r>
          </a:p>
          <a:p>
            <a:r>
              <a:rPr lang="en-US" dirty="0"/>
              <a:t>In other words, it is an interface that helps a non-expert user to communicate with the expert system to find a solution.</a:t>
            </a:r>
          </a:p>
          <a:p>
            <a:pPr marL="0" indent="0">
              <a:buNone/>
            </a:pPr>
            <a:r>
              <a:rPr lang="en-US" dirty="0">
                <a:solidFill>
                  <a:srgbClr val="FF0000"/>
                </a:solidFill>
              </a:rPr>
              <a:t>2. Inference Engine(Rules of Engine)</a:t>
            </a:r>
          </a:p>
          <a:p>
            <a:r>
              <a:rPr lang="en-US" dirty="0"/>
              <a:t>The inference engine is known as the brain of the expert system as it is the main processing unit of the system. </a:t>
            </a:r>
          </a:p>
          <a:p>
            <a:r>
              <a:rPr lang="en-US" dirty="0"/>
              <a:t>It applies inference rules to the knowledge base to derive a conclusion or deduce new information.</a:t>
            </a:r>
          </a:p>
          <a:p>
            <a:r>
              <a:rPr lang="en-US" dirty="0"/>
              <a:t>It helps in deriving an error-free solution of queries asked by the user.</a:t>
            </a:r>
          </a:p>
          <a:p>
            <a:pPr marL="0" indent="0" algn="just">
              <a:buNone/>
            </a:pPr>
            <a:r>
              <a:rPr lang="en-US" b="0" i="0" dirty="0">
                <a:solidFill>
                  <a:srgbClr val="FF0000"/>
                </a:solidFill>
                <a:effectLst/>
                <a:highlight>
                  <a:srgbClr val="FFFFFF"/>
                </a:highlight>
                <a:latin typeface="erdana"/>
              </a:rPr>
              <a:t>3. Knowledge Base</a:t>
            </a:r>
          </a:p>
          <a:p>
            <a:pPr algn="just">
              <a:buFont typeface="Arial" panose="020B0604020202020204" pitchFamily="34" charset="0"/>
              <a:buChar char="•"/>
            </a:pPr>
            <a:r>
              <a:rPr lang="en-US" b="0" i="0" dirty="0">
                <a:solidFill>
                  <a:srgbClr val="000000"/>
                </a:solidFill>
                <a:effectLst/>
                <a:highlight>
                  <a:srgbClr val="FFFFFF"/>
                </a:highlight>
                <a:latin typeface="inter-regular"/>
              </a:rPr>
              <a:t>The knowledgebase is a type of storage that stores knowledge acquired from the different experts of the particular domain.</a:t>
            </a:r>
          </a:p>
          <a:p>
            <a:pPr algn="just">
              <a:buFont typeface="Arial" panose="020B0604020202020204" pitchFamily="34" charset="0"/>
              <a:buChar char="•"/>
            </a:pPr>
            <a:r>
              <a:rPr lang="en-US" b="0" i="0" dirty="0">
                <a:solidFill>
                  <a:srgbClr val="000000"/>
                </a:solidFill>
                <a:effectLst/>
                <a:highlight>
                  <a:srgbClr val="FFFFFF"/>
                </a:highlight>
                <a:latin typeface="inter-regular"/>
              </a:rPr>
              <a:t> It is considered as big storage of knowledge.</a:t>
            </a:r>
          </a:p>
          <a:p>
            <a:pPr algn="just">
              <a:buFont typeface="Arial" panose="020B0604020202020204" pitchFamily="34" charset="0"/>
              <a:buChar char="•"/>
            </a:pPr>
            <a:r>
              <a:rPr lang="en-US" b="0" i="0" dirty="0">
                <a:solidFill>
                  <a:srgbClr val="000000"/>
                </a:solidFill>
                <a:effectLst/>
                <a:highlight>
                  <a:srgbClr val="FFFFFF"/>
                </a:highlight>
                <a:latin typeface="inter-regular"/>
              </a:rPr>
              <a:t> The more the knowledge base, the more precise will be the Expert System.</a:t>
            </a:r>
          </a:p>
          <a:p>
            <a:pPr marL="0" indent="0">
              <a:buNone/>
            </a:pPr>
            <a:endParaRPr lang="en-IN" dirty="0"/>
          </a:p>
        </p:txBody>
      </p:sp>
    </p:spTree>
    <p:extLst>
      <p:ext uri="{BB962C8B-B14F-4D97-AF65-F5344CB8AC3E}">
        <p14:creationId xmlns:p14="http://schemas.microsoft.com/office/powerpoint/2010/main" val="4924440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F006-19D3-F616-38AA-BDCB1ABF03F4}"/>
              </a:ext>
            </a:extLst>
          </p:cNvPr>
          <p:cNvSpPr>
            <a:spLocks noGrp="1"/>
          </p:cNvSpPr>
          <p:nvPr>
            <p:ph type="title"/>
          </p:nvPr>
        </p:nvSpPr>
        <p:spPr>
          <a:xfrm>
            <a:off x="838200" y="365125"/>
            <a:ext cx="10515600" cy="614589"/>
          </a:xfrm>
        </p:spPr>
        <p:txBody>
          <a:bodyPr>
            <a:normAutofit fontScale="90000"/>
          </a:bodyPr>
          <a:lstStyle/>
          <a:p>
            <a:pPr algn="ctr"/>
            <a:r>
              <a:rPr lang="en-IN" dirty="0"/>
              <a:t>Expert Systems</a:t>
            </a:r>
          </a:p>
        </p:txBody>
      </p:sp>
      <p:sp>
        <p:nvSpPr>
          <p:cNvPr id="3" name="Content Placeholder 2">
            <a:extLst>
              <a:ext uri="{FF2B5EF4-FFF2-40B4-BE49-F238E27FC236}">
                <a16:creationId xmlns:a16="http://schemas.microsoft.com/office/drawing/2014/main" id="{FED7A5B2-90C1-7835-DDC0-97E96A19CF15}"/>
              </a:ext>
            </a:extLst>
          </p:cNvPr>
          <p:cNvSpPr>
            <a:spLocks noGrp="1"/>
          </p:cNvSpPr>
          <p:nvPr>
            <p:ph idx="1"/>
          </p:nvPr>
        </p:nvSpPr>
        <p:spPr>
          <a:xfrm>
            <a:off x="838200" y="1055914"/>
            <a:ext cx="10515600" cy="5436961"/>
          </a:xfrm>
        </p:spPr>
        <p:txBody>
          <a:bodyPr>
            <a:normAutofit fontScale="85000" lnSpcReduction="20000"/>
          </a:bodyPr>
          <a:lstStyle/>
          <a:p>
            <a:pPr>
              <a:lnSpc>
                <a:spcPct val="110000"/>
              </a:lnSpc>
            </a:pPr>
            <a:r>
              <a:rPr lang="en-US" dirty="0"/>
              <a:t>DENDRAL: It was an artificial intelligence project that was made as a chemical analysis expert system. It was used in organic chemistry to detect unknown organic molecules with the help of their mass spectra and knowledge base of chemistry.</a:t>
            </a:r>
          </a:p>
          <a:p>
            <a:pPr>
              <a:lnSpc>
                <a:spcPct val="110000"/>
              </a:lnSpc>
            </a:pPr>
            <a:r>
              <a:rPr lang="en-US" dirty="0"/>
              <a:t>MYCIN: It was one of the earliest backward chaining expert systems that was designed to find the bacteria causing infections like </a:t>
            </a:r>
            <a:r>
              <a:rPr lang="en-US" dirty="0" err="1"/>
              <a:t>bacteraemia</a:t>
            </a:r>
            <a:r>
              <a:rPr lang="en-US" dirty="0"/>
              <a:t> and meningitis. It was also used for the recommendation of antibiotics and the diagnosis of blood clotting diseases.</a:t>
            </a:r>
          </a:p>
          <a:p>
            <a:pPr>
              <a:lnSpc>
                <a:spcPct val="110000"/>
              </a:lnSpc>
            </a:pPr>
            <a:r>
              <a:rPr lang="en-US" dirty="0"/>
              <a:t>PXDES: It is an expert system that is used to determine the type and level of lung cancer. To determine the disease, it takes a picture from the upper body, which looks like the shadow. This shadow identifies the type and degree of harm.</a:t>
            </a:r>
          </a:p>
          <a:p>
            <a:pPr>
              <a:lnSpc>
                <a:spcPct val="110000"/>
              </a:lnSpc>
            </a:pPr>
            <a:r>
              <a:rPr lang="en-US" dirty="0" err="1"/>
              <a:t>CaDeT</a:t>
            </a:r>
            <a:r>
              <a:rPr lang="en-US" dirty="0"/>
              <a:t>: The </a:t>
            </a:r>
            <a:r>
              <a:rPr lang="en-US" dirty="0" err="1"/>
              <a:t>CaDet</a:t>
            </a:r>
            <a:r>
              <a:rPr lang="en-US" dirty="0"/>
              <a:t> expert system is a diagnostic support system that can detect cancer at early stages.</a:t>
            </a:r>
            <a:endParaRPr lang="en-IN" dirty="0"/>
          </a:p>
        </p:txBody>
      </p:sp>
    </p:spTree>
    <p:extLst>
      <p:ext uri="{BB962C8B-B14F-4D97-AF65-F5344CB8AC3E}">
        <p14:creationId xmlns:p14="http://schemas.microsoft.com/office/powerpoint/2010/main" val="40961037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EFFC-D06E-1727-533A-0B9B153D8D09}"/>
              </a:ext>
            </a:extLst>
          </p:cNvPr>
          <p:cNvSpPr>
            <a:spLocks noGrp="1"/>
          </p:cNvSpPr>
          <p:nvPr>
            <p:ph type="title"/>
          </p:nvPr>
        </p:nvSpPr>
        <p:spPr>
          <a:xfrm>
            <a:off x="838200" y="365125"/>
            <a:ext cx="10515600" cy="843189"/>
          </a:xfrm>
        </p:spPr>
        <p:txBody>
          <a:bodyPr/>
          <a:lstStyle/>
          <a:p>
            <a:pPr algn="ctr"/>
            <a:r>
              <a:rPr lang="en-IN" dirty="0"/>
              <a:t>Architecture of Expert System</a:t>
            </a:r>
          </a:p>
        </p:txBody>
      </p:sp>
      <p:pic>
        <p:nvPicPr>
          <p:cNvPr id="5" name="Content Placeholder 4">
            <a:extLst>
              <a:ext uri="{FF2B5EF4-FFF2-40B4-BE49-F238E27FC236}">
                <a16:creationId xmlns:a16="http://schemas.microsoft.com/office/drawing/2014/main" id="{8E38CBAA-2B02-8DA9-2979-AB3EAFC206AF}"/>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64129" y="1208314"/>
            <a:ext cx="9263742" cy="5421086"/>
          </a:xfrm>
        </p:spPr>
      </p:pic>
    </p:spTree>
    <p:extLst>
      <p:ext uri="{BB962C8B-B14F-4D97-AF65-F5344CB8AC3E}">
        <p14:creationId xmlns:p14="http://schemas.microsoft.com/office/powerpoint/2010/main" val="12304220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EFFC-D06E-1727-533A-0B9B153D8D09}"/>
              </a:ext>
            </a:extLst>
          </p:cNvPr>
          <p:cNvSpPr>
            <a:spLocks noGrp="1"/>
          </p:cNvSpPr>
          <p:nvPr>
            <p:ph type="title"/>
          </p:nvPr>
        </p:nvSpPr>
        <p:spPr>
          <a:xfrm>
            <a:off x="838200" y="365126"/>
            <a:ext cx="10515600" cy="734332"/>
          </a:xfrm>
        </p:spPr>
        <p:txBody>
          <a:bodyPr/>
          <a:lstStyle/>
          <a:p>
            <a:pPr algn="ctr"/>
            <a:r>
              <a:rPr lang="en-IN" dirty="0"/>
              <a:t>Architecture of Expert System</a:t>
            </a:r>
          </a:p>
        </p:txBody>
      </p:sp>
      <p:sp>
        <p:nvSpPr>
          <p:cNvPr id="4" name="Content Placeholder 3">
            <a:extLst>
              <a:ext uri="{FF2B5EF4-FFF2-40B4-BE49-F238E27FC236}">
                <a16:creationId xmlns:a16="http://schemas.microsoft.com/office/drawing/2014/main" id="{BCE18FF1-1FAA-148D-E6EC-DEAF0C28B2CF}"/>
              </a:ext>
            </a:extLst>
          </p:cNvPr>
          <p:cNvSpPr>
            <a:spLocks noGrp="1"/>
          </p:cNvSpPr>
          <p:nvPr>
            <p:ph idx="1"/>
          </p:nvPr>
        </p:nvSpPr>
        <p:spPr>
          <a:xfrm>
            <a:off x="163286" y="1099458"/>
            <a:ext cx="5932714" cy="5627913"/>
          </a:xfrm>
        </p:spPr>
        <p:txBody>
          <a:bodyPr>
            <a:normAutofit fontScale="85000" lnSpcReduction="20000"/>
          </a:bodyPr>
          <a:lstStyle/>
          <a:p>
            <a:pPr marL="0" indent="0">
              <a:buNone/>
            </a:pPr>
            <a:r>
              <a:rPr lang="en-US" dirty="0">
                <a:solidFill>
                  <a:srgbClr val="FF0000"/>
                </a:solidFill>
              </a:rPr>
              <a:t>Explanation Facility</a:t>
            </a:r>
          </a:p>
          <a:p>
            <a:r>
              <a:rPr lang="en-US" dirty="0"/>
              <a:t>Allows a user to understand how the expert system arrived at certain conclusions or results.</a:t>
            </a:r>
          </a:p>
          <a:p>
            <a:r>
              <a:rPr lang="en-US" dirty="0"/>
              <a:t>For example: it allows a doctor to find out the logic or rationale of the diagnosis made by a medical expert system.</a:t>
            </a:r>
          </a:p>
          <a:p>
            <a:pPr marL="0" indent="0">
              <a:buNone/>
            </a:pPr>
            <a:r>
              <a:rPr lang="en-US" dirty="0">
                <a:solidFill>
                  <a:srgbClr val="FF0000"/>
                </a:solidFill>
              </a:rPr>
              <a:t>Inference Engine</a:t>
            </a:r>
          </a:p>
          <a:p>
            <a:r>
              <a:rPr lang="en-US" dirty="0"/>
              <a:t>Seeks information and relationships from the knowledge base and provides answers, predictions, and suggestions the way a human expert would.</a:t>
            </a:r>
          </a:p>
          <a:p>
            <a:pPr marL="0" indent="0">
              <a:buNone/>
            </a:pPr>
            <a:r>
              <a:rPr lang="en-US" dirty="0">
                <a:solidFill>
                  <a:srgbClr val="FF0000"/>
                </a:solidFill>
              </a:rPr>
              <a:t>Knowledge Base</a:t>
            </a:r>
          </a:p>
          <a:p>
            <a:r>
              <a:rPr lang="en-US" dirty="0"/>
              <a:t>Stores all relevant information, data, rules, cases, and relationships used by the expert system.</a:t>
            </a:r>
          </a:p>
          <a:p>
            <a:r>
              <a:rPr lang="en-US" dirty="0"/>
              <a:t>It uses rules, If-then statements, fuzzy logic</a:t>
            </a:r>
          </a:p>
          <a:p>
            <a:endParaRPr lang="en-US" dirty="0"/>
          </a:p>
          <a:p>
            <a:endParaRPr lang="en-US" dirty="0"/>
          </a:p>
        </p:txBody>
      </p:sp>
      <p:sp>
        <p:nvSpPr>
          <p:cNvPr id="7" name="TextBox 6">
            <a:extLst>
              <a:ext uri="{FF2B5EF4-FFF2-40B4-BE49-F238E27FC236}">
                <a16:creationId xmlns:a16="http://schemas.microsoft.com/office/drawing/2014/main" id="{E72E66A5-F308-4412-BDA1-85325C75D5DC}"/>
              </a:ext>
            </a:extLst>
          </p:cNvPr>
          <p:cNvSpPr txBox="1"/>
          <p:nvPr/>
        </p:nvSpPr>
        <p:spPr>
          <a:xfrm>
            <a:off x="6215743" y="1220097"/>
            <a:ext cx="6096000" cy="5262979"/>
          </a:xfrm>
          <a:prstGeom prst="rect">
            <a:avLst/>
          </a:prstGeom>
          <a:noFill/>
        </p:spPr>
        <p:txBody>
          <a:bodyPr wrap="square">
            <a:spAutoFit/>
          </a:bodyPr>
          <a:lstStyle/>
          <a:p>
            <a:r>
              <a:rPr lang="en-US" sz="2400" dirty="0">
                <a:solidFill>
                  <a:srgbClr val="FF0000"/>
                </a:solidFill>
              </a:rPr>
              <a:t>Knowledge acquisition facility</a:t>
            </a:r>
          </a:p>
          <a:p>
            <a:pPr marL="285750" indent="-285750">
              <a:buFont typeface="Arial" panose="020B0604020202020204" pitchFamily="34" charset="0"/>
              <a:buChar char="•"/>
            </a:pPr>
            <a:r>
              <a:rPr lang="en-US" sz="2400" dirty="0"/>
              <a:t>Provide convenient and efficient means of capturing and storing all the components of the knowledge base.</a:t>
            </a:r>
          </a:p>
          <a:p>
            <a:pPr marL="285750" indent="-285750">
              <a:buFont typeface="Arial" panose="020B0604020202020204" pitchFamily="34" charset="0"/>
              <a:buChar char="•"/>
            </a:pPr>
            <a:r>
              <a:rPr lang="en-US" sz="2400" dirty="0"/>
              <a:t>Acts as an interface between experts and the knowledge base.</a:t>
            </a:r>
          </a:p>
          <a:p>
            <a:r>
              <a:rPr lang="en-US" sz="2400" dirty="0">
                <a:solidFill>
                  <a:srgbClr val="FF0000"/>
                </a:solidFill>
              </a:rPr>
              <a:t>User Interface</a:t>
            </a:r>
          </a:p>
          <a:p>
            <a:pPr marL="285750" indent="-285750">
              <a:buFont typeface="Arial" panose="020B0604020202020204" pitchFamily="34" charset="0"/>
              <a:buChar char="•"/>
            </a:pPr>
            <a:r>
              <a:rPr lang="en-US" sz="2400" dirty="0"/>
              <a:t>Specialized user interface software employed for designing, creating, updating, and using expert systems.</a:t>
            </a:r>
          </a:p>
          <a:p>
            <a:pPr marL="285750" indent="-285750">
              <a:buFont typeface="Arial" panose="020B0604020202020204" pitchFamily="34" charset="0"/>
              <a:buChar char="•"/>
            </a:pPr>
            <a:r>
              <a:rPr lang="en-US" sz="2400" dirty="0"/>
              <a:t>The main purpose of the user interface is to make the development and use of an expert system easier for users and decision makers</a:t>
            </a:r>
            <a:endParaRPr lang="en-IN" sz="2400" dirty="0"/>
          </a:p>
        </p:txBody>
      </p:sp>
    </p:spTree>
    <p:extLst>
      <p:ext uri="{BB962C8B-B14F-4D97-AF65-F5344CB8AC3E}">
        <p14:creationId xmlns:p14="http://schemas.microsoft.com/office/powerpoint/2010/main" val="36599204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F8283-FE90-9929-9247-B27088B38578}"/>
              </a:ext>
            </a:extLst>
          </p:cNvPr>
          <p:cNvSpPr>
            <a:spLocks noGrp="1"/>
          </p:cNvSpPr>
          <p:nvPr>
            <p:ph type="title"/>
          </p:nvPr>
        </p:nvSpPr>
        <p:spPr/>
        <p:txBody>
          <a:bodyPr/>
          <a:lstStyle/>
          <a:p>
            <a:pPr algn="ctr"/>
            <a:r>
              <a:rPr lang="en-IN" dirty="0"/>
              <a:t>Advantages and Limitations  of Expert Systems</a:t>
            </a:r>
          </a:p>
        </p:txBody>
      </p:sp>
      <p:pic>
        <p:nvPicPr>
          <p:cNvPr id="3074" name="Picture 2">
            <a:extLst>
              <a:ext uri="{FF2B5EF4-FFF2-40B4-BE49-F238E27FC236}">
                <a16:creationId xmlns:a16="http://schemas.microsoft.com/office/drawing/2014/main" id="{7B7F6476-F745-4D05-D21D-0C53CBE0D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430" y="2038350"/>
            <a:ext cx="10117139" cy="4188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770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731</TotalTime>
  <Words>5494</Words>
  <Application>Microsoft Office PowerPoint</Application>
  <PresentationFormat>Widescreen</PresentationFormat>
  <Paragraphs>432</Paragraphs>
  <Slides>70</Slides>
  <Notes>0</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Aptos</vt:lpstr>
      <vt:lpstr>Aptos Display</vt:lpstr>
      <vt:lpstr>Arial</vt:lpstr>
      <vt:lpstr>erdana</vt:lpstr>
      <vt:lpstr>inter-bold</vt:lpstr>
      <vt:lpstr>inter-regular</vt:lpstr>
      <vt:lpstr>source-serif-pro</vt:lpstr>
      <vt:lpstr>Office Theme</vt:lpstr>
      <vt:lpstr>Unit 5</vt:lpstr>
      <vt:lpstr>Planning</vt:lpstr>
      <vt:lpstr> Importance of Planning in AI </vt:lpstr>
      <vt:lpstr>Planning Problem</vt:lpstr>
      <vt:lpstr>Planning Representation</vt:lpstr>
      <vt:lpstr>Basic Planning Representation</vt:lpstr>
      <vt:lpstr>Planning Representation</vt:lpstr>
      <vt:lpstr>Planning Representation</vt:lpstr>
      <vt:lpstr>Planning Representation</vt:lpstr>
      <vt:lpstr>Action Representation</vt:lpstr>
      <vt:lpstr>Planning vs Problem solving</vt:lpstr>
      <vt:lpstr>Simple planning agent</vt:lpstr>
      <vt:lpstr>Algorithm of a simple planning agent</vt:lpstr>
      <vt:lpstr>Languages for Planning Problems</vt:lpstr>
      <vt:lpstr>Stanford Research Institute Problem Solver (STRIPS)</vt:lpstr>
      <vt:lpstr> STRIPS </vt:lpstr>
      <vt:lpstr> STRIPS </vt:lpstr>
      <vt:lpstr>PowerPoint Presentation</vt:lpstr>
      <vt:lpstr>Action Description Language (ADL)</vt:lpstr>
      <vt:lpstr>Planning Domain Description Language (PDDL)</vt:lpstr>
      <vt:lpstr>Means - Ends Analysis</vt:lpstr>
      <vt:lpstr>MEA Algorithm</vt:lpstr>
      <vt:lpstr>Example of Mean-Ends Analysis:</vt:lpstr>
      <vt:lpstr>Example of Mean-Ends Analysis:</vt:lpstr>
      <vt:lpstr>Linear Planning - Block World</vt:lpstr>
      <vt:lpstr>PowerPoint Presentation</vt:lpstr>
      <vt:lpstr>Linear Planning - Block World</vt:lpstr>
      <vt:lpstr>Linear Planning - Block World</vt:lpstr>
      <vt:lpstr>Linear Planning - Block World</vt:lpstr>
      <vt:lpstr>Non-linear planning</vt:lpstr>
      <vt:lpstr>Non-linear planning</vt:lpstr>
      <vt:lpstr>Conditional Planning</vt:lpstr>
      <vt:lpstr>Reactive Planning</vt:lpstr>
      <vt:lpstr>Machine Learning</vt:lpstr>
      <vt:lpstr>PowerPoint Presentation</vt:lpstr>
      <vt:lpstr>Machine Learning</vt:lpstr>
      <vt:lpstr>Machine Learning</vt:lpstr>
      <vt:lpstr>ML - Rote Learning</vt:lpstr>
      <vt:lpstr>ML - Learning from agents</vt:lpstr>
      <vt:lpstr>ML - Inductive Learning</vt:lpstr>
      <vt:lpstr>ML - Decision Tree Learning</vt:lpstr>
      <vt:lpstr>ML - Supervised learning</vt:lpstr>
      <vt:lpstr>Hyperplane</vt:lpstr>
      <vt:lpstr>ML - Unsupervised Learning</vt:lpstr>
      <vt:lpstr>ML - Semi supervised  Learning</vt:lpstr>
      <vt:lpstr>ML - Ensemble Learning</vt:lpstr>
      <vt:lpstr>ML - Ensemble Learning</vt:lpstr>
      <vt:lpstr>ML</vt:lpstr>
      <vt:lpstr>ML - Learning Methods</vt:lpstr>
      <vt:lpstr>Artificial neural network based learning</vt:lpstr>
      <vt:lpstr>ANN - Back propagation Algorithm</vt:lpstr>
      <vt:lpstr>ANN - Back propagation Algorithm</vt:lpstr>
      <vt:lpstr>Support Vector Machine (SVM)</vt:lpstr>
      <vt:lpstr>Identify the right hyperplane (Scenario-1):</vt:lpstr>
      <vt:lpstr>Identify the right hyperplane (Scenario-2):</vt:lpstr>
      <vt:lpstr>Reinforcement Learning</vt:lpstr>
      <vt:lpstr>Reinforcement Learning Systems</vt:lpstr>
      <vt:lpstr>Reinforcement Learning Systems</vt:lpstr>
      <vt:lpstr>Adaptive learning</vt:lpstr>
      <vt:lpstr>Multi-Agent System</vt:lpstr>
      <vt:lpstr>Distributed learning</vt:lpstr>
      <vt:lpstr>Speedup learning</vt:lpstr>
      <vt:lpstr>Expert System</vt:lpstr>
      <vt:lpstr> Characteristics of Expert System </vt:lpstr>
      <vt:lpstr> Components of Expert System </vt:lpstr>
      <vt:lpstr> Components of Expert System </vt:lpstr>
      <vt:lpstr>Expert Systems</vt:lpstr>
      <vt:lpstr>Architecture of Expert System</vt:lpstr>
      <vt:lpstr>Architecture of Expert System</vt:lpstr>
      <vt:lpstr>Advantages and Limitations  of Expert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Uthra R 100292</dc:creator>
  <cp:lastModifiedBy>Uthra Narasimhan</cp:lastModifiedBy>
  <cp:revision>181</cp:revision>
  <dcterms:created xsi:type="dcterms:W3CDTF">2024-04-22T08:55:20Z</dcterms:created>
  <dcterms:modified xsi:type="dcterms:W3CDTF">2025-04-29T06:17:42Z</dcterms:modified>
</cp:coreProperties>
</file>